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9" r:id="rId2"/>
  </p:sldIdLst>
  <p:sldSz cx="21383625" cy="30275213"/>
  <p:notesSz cx="6858000" cy="9144000"/>
  <p:defaultTextStyle>
    <a:defPPr>
      <a:defRPr lang="ko-KR"/>
    </a:defPPr>
    <a:lvl1pPr marL="0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1pPr>
    <a:lvl2pPr marL="1475007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2pPr>
    <a:lvl3pPr marL="2950016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3pPr>
    <a:lvl4pPr marL="4425022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4pPr>
    <a:lvl5pPr marL="5900029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5pPr>
    <a:lvl6pPr marL="7375035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6pPr>
    <a:lvl7pPr marL="8850044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7pPr>
    <a:lvl8pPr marL="10325052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8pPr>
    <a:lvl9pPr marL="11800059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6" userDrawn="1">
          <p15:clr>
            <a:srgbClr val="A4A3A4"/>
          </p15:clr>
        </p15:guide>
        <p15:guide id="2" pos="6735" userDrawn="1">
          <p15:clr>
            <a:srgbClr val="A4A3A4"/>
          </p15:clr>
        </p15:guide>
        <p15:guide id="3" pos="424" userDrawn="1">
          <p15:clr>
            <a:srgbClr val="A4A3A4"/>
          </p15:clr>
        </p15:guide>
        <p15:guide id="4" pos="130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6EAA"/>
    <a:srgbClr val="FFFFFF"/>
    <a:srgbClr val="4BACC6"/>
    <a:srgbClr val="FFC34B"/>
    <a:srgbClr val="F7A400"/>
    <a:srgbClr val="F37413"/>
    <a:srgbClr val="F9E699"/>
    <a:srgbClr val="9CC57D"/>
    <a:srgbClr val="8EA604"/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61" autoAdjust="0"/>
    <p:restoredTop sz="94746" autoAdjust="0"/>
  </p:normalViewPr>
  <p:slideViewPr>
    <p:cSldViewPr showGuides="1">
      <p:cViewPr>
        <p:scale>
          <a:sx n="33" d="100"/>
          <a:sy n="33" d="100"/>
        </p:scale>
        <p:origin x="2286" y="-1488"/>
      </p:cViewPr>
      <p:guideLst>
        <p:guide orient="horz" pos="9536"/>
        <p:guide pos="6735"/>
        <p:guide pos="424"/>
        <p:guide pos="130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2080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75A67-930C-4E92-A71E-AE4DD44D14DD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D11B17-461A-4354-B8E8-CB912E0EE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355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1pPr>
    <a:lvl2pPr marL="323013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2pPr>
    <a:lvl3pPr marL="646026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3pPr>
    <a:lvl4pPr marL="969039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4pPr>
    <a:lvl5pPr marL="1292054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5pPr>
    <a:lvl6pPr marL="1615066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6pPr>
    <a:lvl7pPr marL="1938080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7pPr>
    <a:lvl8pPr marL="2261093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8pPr>
    <a:lvl9pPr marL="2584107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11B17-461A-4354-B8E8-CB912E0EE15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3520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BE54038C-C7A5-DF70-164D-A1560BD81914}"/>
              </a:ext>
            </a:extLst>
          </p:cNvPr>
          <p:cNvGrpSpPr/>
          <p:nvPr userDrawn="1"/>
        </p:nvGrpSpPr>
        <p:grpSpPr>
          <a:xfrm>
            <a:off x="0" y="30037286"/>
            <a:ext cx="21383626" cy="237927"/>
            <a:chOff x="7698" y="1"/>
            <a:chExt cx="32363652" cy="55516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8D7BA7F9-2FE2-459B-0C4D-1FAD48C85AB1}"/>
                </a:ext>
              </a:extLst>
            </p:cNvPr>
            <p:cNvSpPr/>
            <p:nvPr/>
          </p:nvSpPr>
          <p:spPr>
            <a:xfrm>
              <a:off x="10771260" y="1"/>
              <a:ext cx="21600090" cy="55516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2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80AA8ECC-4BF9-BE30-BD88-6DE5F2429749}"/>
                </a:ext>
              </a:extLst>
            </p:cNvPr>
            <p:cNvSpPr/>
            <p:nvPr/>
          </p:nvSpPr>
          <p:spPr>
            <a:xfrm>
              <a:off x="7698" y="1"/>
              <a:ext cx="21600090" cy="55516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2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9CA4F2C-FC5F-7C1F-3730-792D44BB09F7}"/>
                </a:ext>
              </a:extLst>
            </p:cNvPr>
            <p:cNvSpPr/>
            <p:nvPr/>
          </p:nvSpPr>
          <p:spPr>
            <a:xfrm>
              <a:off x="5399598" y="1"/>
              <a:ext cx="21600090" cy="55516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2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7319DEB0-06FE-61C4-83A1-E6DDEED2EAEB}"/>
              </a:ext>
            </a:extLst>
          </p:cNvPr>
          <p:cNvGrpSpPr/>
          <p:nvPr userDrawn="1"/>
        </p:nvGrpSpPr>
        <p:grpSpPr>
          <a:xfrm>
            <a:off x="-235" y="0"/>
            <a:ext cx="21384538" cy="4719954"/>
            <a:chOff x="-26762" y="-1"/>
            <a:chExt cx="30276505" cy="6673175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4A0017C-9D1D-44DD-D423-D10D6A6E6057}"/>
                </a:ext>
              </a:extLst>
            </p:cNvPr>
            <p:cNvSpPr/>
            <p:nvPr userDrawn="1"/>
          </p:nvSpPr>
          <p:spPr>
            <a:xfrm>
              <a:off x="-26135" y="-1"/>
              <a:ext cx="30275878" cy="6480000"/>
            </a:xfrm>
            <a:prstGeom prst="rect">
              <a:avLst/>
            </a:prstGeom>
            <a:solidFill>
              <a:srgbClr val="0D6E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2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F4D5095-DFAB-FCB4-5A66-FCFEACFF5485}"/>
                </a:ext>
              </a:extLst>
            </p:cNvPr>
            <p:cNvSpPr/>
            <p:nvPr/>
          </p:nvSpPr>
          <p:spPr>
            <a:xfrm>
              <a:off x="-26762" y="6199176"/>
              <a:ext cx="30275878" cy="473998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2"/>
            </a:p>
          </p:txBody>
        </p:sp>
      </p:grpSp>
    </p:spTree>
    <p:extLst>
      <p:ext uri="{BB962C8B-B14F-4D97-AF65-F5344CB8AC3E}">
        <p14:creationId xmlns:p14="http://schemas.microsoft.com/office/powerpoint/2010/main" val="2511551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1186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AC176D51-4B99-102F-04CD-89BE9B269BC8}"/>
              </a:ext>
            </a:extLst>
          </p:cNvPr>
          <p:cNvSpPr/>
          <p:nvPr userDrawn="1"/>
        </p:nvSpPr>
        <p:spPr>
          <a:xfrm>
            <a:off x="10691813" y="5285114"/>
            <a:ext cx="0" cy="24189749"/>
          </a:xfrm>
          <a:custGeom>
            <a:avLst/>
            <a:gdLst>
              <a:gd name="connsiteX0" fmla="*/ 0 w 0"/>
              <a:gd name="connsiteY0" fmla="*/ 0 h 34355314"/>
              <a:gd name="connsiteX1" fmla="*/ 0 w 0"/>
              <a:gd name="connsiteY1" fmla="*/ 34355314 h 34355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34355314">
                <a:moveTo>
                  <a:pt x="0" y="0"/>
                </a:moveTo>
                <a:lnTo>
                  <a:pt x="0" y="34355314"/>
                </a:lnTo>
              </a:path>
            </a:pathLst>
          </a:custGeom>
          <a:noFill/>
          <a:ln w="9525">
            <a:solidFill>
              <a:schemeClr val="bg1">
                <a:lumMod val="85000"/>
              </a:schemeClr>
            </a:solidFill>
            <a:headEnd type="oval" w="sm" len="med"/>
            <a:tailEnd type="oval"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2"/>
          </a:p>
        </p:txBody>
      </p:sp>
    </p:spTree>
    <p:extLst>
      <p:ext uri="{BB962C8B-B14F-4D97-AF65-F5344CB8AC3E}">
        <p14:creationId xmlns:p14="http://schemas.microsoft.com/office/powerpoint/2010/main" val="1993999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AC176D51-4B99-102F-04CD-89BE9B269BC8}"/>
              </a:ext>
            </a:extLst>
          </p:cNvPr>
          <p:cNvSpPr/>
          <p:nvPr userDrawn="1"/>
        </p:nvSpPr>
        <p:spPr>
          <a:xfrm>
            <a:off x="10691813" y="5285114"/>
            <a:ext cx="0" cy="24189749"/>
          </a:xfrm>
          <a:custGeom>
            <a:avLst/>
            <a:gdLst>
              <a:gd name="connsiteX0" fmla="*/ 0 w 0"/>
              <a:gd name="connsiteY0" fmla="*/ 0 h 34355314"/>
              <a:gd name="connsiteX1" fmla="*/ 0 w 0"/>
              <a:gd name="connsiteY1" fmla="*/ 34355314 h 34355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34355314">
                <a:moveTo>
                  <a:pt x="0" y="0"/>
                </a:moveTo>
                <a:lnTo>
                  <a:pt x="0" y="34355314"/>
                </a:lnTo>
              </a:path>
            </a:pathLst>
          </a:custGeom>
          <a:noFill/>
          <a:ln w="9525">
            <a:solidFill>
              <a:schemeClr val="bg1">
                <a:lumMod val="85000"/>
              </a:schemeClr>
            </a:solidFill>
            <a:headEnd type="oval" w="sm" len="med"/>
            <a:tailEnd type="oval"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2"/>
          </a:p>
        </p:txBody>
      </p:sp>
    </p:spTree>
    <p:extLst>
      <p:ext uri="{BB962C8B-B14F-4D97-AF65-F5344CB8AC3E}">
        <p14:creationId xmlns:p14="http://schemas.microsoft.com/office/powerpoint/2010/main" val="219652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8675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2448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069181" y="1212415"/>
            <a:ext cx="19245263" cy="5045868"/>
          </a:xfrm>
          <a:prstGeom prst="rect">
            <a:avLst/>
          </a:prstGeom>
        </p:spPr>
        <p:txBody>
          <a:bodyPr vert="horz" lIns="417635" tIns="208818" rIns="417635" bIns="208818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69181" y="7064223"/>
            <a:ext cx="19245263" cy="19980241"/>
          </a:xfrm>
          <a:prstGeom prst="rect">
            <a:avLst/>
          </a:prstGeom>
        </p:spPr>
        <p:txBody>
          <a:bodyPr vert="horz" lIns="417635" tIns="208818" rIns="417635" bIns="208818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069185" y="28060641"/>
            <a:ext cx="4989513" cy="1611875"/>
          </a:xfrm>
          <a:prstGeom prst="rect">
            <a:avLst/>
          </a:prstGeom>
        </p:spPr>
        <p:txBody>
          <a:bodyPr vert="horz" lIns="417635" tIns="208818" rIns="417635" bIns="208818" rtlCol="0" anchor="ctr"/>
          <a:lstStyle>
            <a:lvl1pPr algn="l">
              <a:defRPr sz="36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D32EA-93D2-422C-9D50-DCDFD5662F59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7306075" y="28060641"/>
            <a:ext cx="6771481" cy="1611875"/>
          </a:xfrm>
          <a:prstGeom prst="rect">
            <a:avLst/>
          </a:prstGeom>
        </p:spPr>
        <p:txBody>
          <a:bodyPr vert="horz" lIns="417635" tIns="208818" rIns="417635" bIns="208818" rtlCol="0" anchor="ctr"/>
          <a:lstStyle>
            <a:lvl1pPr algn="ctr">
              <a:defRPr sz="36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5324936" y="28060641"/>
            <a:ext cx="4989513" cy="1611875"/>
          </a:xfrm>
          <a:prstGeom prst="rect">
            <a:avLst/>
          </a:prstGeom>
        </p:spPr>
        <p:txBody>
          <a:bodyPr vert="horz" lIns="417635" tIns="208818" rIns="417635" bIns="208818" rtlCol="0" anchor="ctr"/>
          <a:lstStyle>
            <a:lvl1pPr algn="r">
              <a:defRPr sz="36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A678E-E807-4BC3-8392-26D7FE55F7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511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2" r:id="rId3"/>
    <p:sldLayoutId id="2147483663" r:id="rId4"/>
    <p:sldLayoutId id="2147483659" r:id="rId5"/>
    <p:sldLayoutId id="2147483660" r:id="rId6"/>
  </p:sldLayoutIdLst>
  <p:txStyles>
    <p:titleStyle>
      <a:lvl1pPr algn="ctr" defTabSz="2777100" rtl="0" eaLnBrk="1" latinLnBrk="1" hangingPunct="1">
        <a:spcBef>
          <a:spcPct val="0"/>
        </a:spcBef>
        <a:buNone/>
        <a:defRPr sz="1336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41412" indent="-1041412" algn="l" defTabSz="2777100" rtl="0" eaLnBrk="1" latinLnBrk="1" hangingPunct="1">
        <a:spcBef>
          <a:spcPct val="20000"/>
        </a:spcBef>
        <a:buFont typeface="Arial" pitchFamily="34" charset="0"/>
        <a:buChar char="•"/>
        <a:defRPr sz="9708" kern="1200">
          <a:solidFill>
            <a:schemeClr val="tx1"/>
          </a:solidFill>
          <a:latin typeface="+mn-lt"/>
          <a:ea typeface="+mn-ea"/>
          <a:cs typeface="+mn-cs"/>
        </a:defRPr>
      </a:lvl1pPr>
      <a:lvl2pPr marL="2256393" indent="-867844" algn="l" defTabSz="2777100" rtl="0" eaLnBrk="1" latinLnBrk="1" hangingPunct="1">
        <a:spcBef>
          <a:spcPct val="20000"/>
        </a:spcBef>
        <a:buFont typeface="Arial" pitchFamily="34" charset="0"/>
        <a:buChar char="–"/>
        <a:defRPr sz="8445" kern="1200">
          <a:solidFill>
            <a:schemeClr val="tx1"/>
          </a:solidFill>
          <a:latin typeface="+mn-lt"/>
          <a:ea typeface="+mn-ea"/>
          <a:cs typeface="+mn-cs"/>
        </a:defRPr>
      </a:lvl2pPr>
      <a:lvl3pPr marL="3471373" indent="-694276" algn="l" defTabSz="2777100" rtl="0" eaLnBrk="1" latinLnBrk="1" hangingPunct="1">
        <a:spcBef>
          <a:spcPct val="20000"/>
        </a:spcBef>
        <a:buFont typeface="Arial" pitchFamily="34" charset="0"/>
        <a:buChar char="•"/>
        <a:defRPr sz="7314" kern="1200">
          <a:solidFill>
            <a:schemeClr val="tx1"/>
          </a:solidFill>
          <a:latin typeface="+mn-lt"/>
          <a:ea typeface="+mn-ea"/>
          <a:cs typeface="+mn-cs"/>
        </a:defRPr>
      </a:lvl3pPr>
      <a:lvl4pPr marL="4859922" indent="-694276" algn="l" defTabSz="2777100" rtl="0" eaLnBrk="1" latinLnBrk="1" hangingPunct="1">
        <a:spcBef>
          <a:spcPct val="20000"/>
        </a:spcBef>
        <a:buFont typeface="Arial" pitchFamily="34" charset="0"/>
        <a:buChar char="–"/>
        <a:defRPr sz="6052" kern="1200">
          <a:solidFill>
            <a:schemeClr val="tx1"/>
          </a:solidFill>
          <a:latin typeface="+mn-lt"/>
          <a:ea typeface="+mn-ea"/>
          <a:cs typeface="+mn-cs"/>
        </a:defRPr>
      </a:lvl4pPr>
      <a:lvl5pPr marL="6248472" indent="-694276" algn="l" defTabSz="2777100" rtl="0" eaLnBrk="1" latinLnBrk="1" hangingPunct="1">
        <a:spcBef>
          <a:spcPct val="20000"/>
        </a:spcBef>
        <a:buFont typeface="Arial" pitchFamily="34" charset="0"/>
        <a:buChar char="»"/>
        <a:defRPr sz="6052" kern="1200">
          <a:solidFill>
            <a:schemeClr val="tx1"/>
          </a:solidFill>
          <a:latin typeface="+mn-lt"/>
          <a:ea typeface="+mn-ea"/>
          <a:cs typeface="+mn-cs"/>
        </a:defRPr>
      </a:lvl5pPr>
      <a:lvl6pPr marL="7637023" indent="-694276" algn="l" defTabSz="2777100" rtl="0" eaLnBrk="1" latinLnBrk="1" hangingPunct="1">
        <a:spcBef>
          <a:spcPct val="20000"/>
        </a:spcBef>
        <a:buFont typeface="Arial" pitchFamily="34" charset="0"/>
        <a:buChar char="•"/>
        <a:defRPr sz="6052" kern="1200">
          <a:solidFill>
            <a:schemeClr val="tx1"/>
          </a:solidFill>
          <a:latin typeface="+mn-lt"/>
          <a:ea typeface="+mn-ea"/>
          <a:cs typeface="+mn-cs"/>
        </a:defRPr>
      </a:lvl6pPr>
      <a:lvl7pPr marL="9025573" indent="-694276" algn="l" defTabSz="2777100" rtl="0" eaLnBrk="1" latinLnBrk="1" hangingPunct="1">
        <a:spcBef>
          <a:spcPct val="20000"/>
        </a:spcBef>
        <a:buFont typeface="Arial" pitchFamily="34" charset="0"/>
        <a:buChar char="•"/>
        <a:defRPr sz="6052" kern="1200">
          <a:solidFill>
            <a:schemeClr val="tx1"/>
          </a:solidFill>
          <a:latin typeface="+mn-lt"/>
          <a:ea typeface="+mn-ea"/>
          <a:cs typeface="+mn-cs"/>
        </a:defRPr>
      </a:lvl7pPr>
      <a:lvl8pPr marL="10414122" indent="-694276" algn="l" defTabSz="2777100" rtl="0" eaLnBrk="1" latinLnBrk="1" hangingPunct="1">
        <a:spcBef>
          <a:spcPct val="20000"/>
        </a:spcBef>
        <a:buFont typeface="Arial" pitchFamily="34" charset="0"/>
        <a:buChar char="•"/>
        <a:defRPr sz="6052" kern="1200">
          <a:solidFill>
            <a:schemeClr val="tx1"/>
          </a:solidFill>
          <a:latin typeface="+mn-lt"/>
          <a:ea typeface="+mn-ea"/>
          <a:cs typeface="+mn-cs"/>
        </a:defRPr>
      </a:lvl8pPr>
      <a:lvl9pPr marL="11802670" indent="-694276" algn="l" defTabSz="2777100" rtl="0" eaLnBrk="1" latinLnBrk="1" hangingPunct="1">
        <a:spcBef>
          <a:spcPct val="20000"/>
        </a:spcBef>
        <a:buFont typeface="Arial" pitchFamily="34" charset="0"/>
        <a:buChar char="•"/>
        <a:defRPr sz="60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1pPr>
      <a:lvl2pPr marL="1388549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2pPr>
      <a:lvl3pPr marL="2777100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3pPr>
      <a:lvl4pPr marL="4165649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4pPr>
      <a:lvl5pPr marL="5554197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5pPr>
      <a:lvl6pPr marL="6942747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6pPr>
      <a:lvl7pPr marL="8331298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7pPr>
      <a:lvl8pPr marL="9719847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8pPr>
      <a:lvl9pPr marL="11108396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536" userDrawn="1">
          <p15:clr>
            <a:srgbClr val="F26B43"/>
          </p15:clr>
        </p15:guide>
        <p15:guide id="2" pos="673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jpeg"/><Relationship Id="rId17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jpe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emf"/><Relationship Id="rId5" Type="http://schemas.openxmlformats.org/officeDocument/2006/relationships/image" Target="../media/image3.png"/><Relationship Id="rId15" Type="http://schemas.openxmlformats.org/officeDocument/2006/relationships/image" Target="../media/image13.jpeg"/><Relationship Id="rId10" Type="http://schemas.openxmlformats.org/officeDocument/2006/relationships/image" Target="../media/image8.jpe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jpeg"/><Relationship Id="rId14" Type="http://schemas.openxmlformats.org/officeDocument/2006/relationships/image" Target="../media/image12.jpe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" name="표 104">
            <a:extLst>
              <a:ext uri="{FF2B5EF4-FFF2-40B4-BE49-F238E27FC236}">
                <a16:creationId xmlns:a16="http://schemas.microsoft.com/office/drawing/2014/main" id="{A90C65D5-8487-7400-B357-3428760221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892631"/>
              </p:ext>
            </p:extLst>
          </p:nvPr>
        </p:nvGraphicFramePr>
        <p:xfrm>
          <a:off x="11353582" y="22804378"/>
          <a:ext cx="8974308" cy="6281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202">
                  <a:extLst>
                    <a:ext uri="{9D8B030D-6E8A-4147-A177-3AD203B41FA5}">
                      <a16:colId xmlns:a16="http://schemas.microsoft.com/office/drawing/2014/main" val="1228646984"/>
                    </a:ext>
                  </a:extLst>
                </a:gridCol>
                <a:gridCol w="4319106">
                  <a:extLst>
                    <a:ext uri="{9D8B030D-6E8A-4147-A177-3AD203B41FA5}">
                      <a16:colId xmlns:a16="http://schemas.microsoft.com/office/drawing/2014/main" val="3539957327"/>
                    </a:ext>
                  </a:extLst>
                </a:gridCol>
              </a:tblGrid>
              <a:tr h="2236149">
                <a:tc>
                  <a:txBody>
                    <a:bodyPr/>
                    <a:lstStyle/>
                    <a:p>
                      <a:pPr latinLnBrk="1"/>
                      <a:endParaRPr lang="ko-KR" altLang="en-US" sz="25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252293"/>
                  </a:ext>
                </a:extLst>
              </a:tr>
              <a:tr h="4045005">
                <a:tc gridSpan="2">
                  <a:txBody>
                    <a:bodyPr/>
                    <a:lstStyle/>
                    <a:p>
                      <a:pPr fontAlgn="base" latinLnBrk="1"/>
                      <a:endParaRPr lang="ko-KR" altLang="en-US" sz="25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lvl="0" indent="-342900" fontAlgn="base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5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아두이노와</a:t>
                      </a:r>
                      <a:r>
                        <a:rPr lang="ko-KR" altLang="en-US" sz="2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25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라즈베리파이에서</a:t>
                      </a:r>
                      <a:r>
                        <a:rPr lang="ko-KR" altLang="en-US" sz="2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수집한 환경 데이터를 </a:t>
                      </a:r>
                      <a:r>
                        <a:rPr lang="en-US" altLang="ko-KR" sz="2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IoT </a:t>
                      </a:r>
                      <a:r>
                        <a:rPr lang="ko-KR" altLang="en-US" sz="2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통신에 최적화된 </a:t>
                      </a:r>
                      <a:r>
                        <a:rPr lang="en-US" altLang="ko-KR" sz="2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MQTT </a:t>
                      </a:r>
                      <a:r>
                        <a:rPr lang="ko-KR" altLang="en-US" sz="2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프로토콜</a:t>
                      </a:r>
                      <a:r>
                        <a:rPr lang="ko-KR" altLang="en-US" sz="2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과 </a:t>
                      </a:r>
                      <a:r>
                        <a:rPr lang="en-US" altLang="ko-KR" sz="25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HiveMQ</a:t>
                      </a:r>
                      <a:r>
                        <a:rPr lang="en-US" altLang="ko-KR" sz="2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2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클라우드</a:t>
                      </a:r>
                      <a:r>
                        <a:rPr lang="ko-KR" altLang="en-US" sz="2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활용하여 실시간으로 웹서버에 전달한다</a:t>
                      </a:r>
                      <a:r>
                        <a:rPr lang="en-US" altLang="ko-KR" sz="2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25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lvl="0" indent="-342900" fontAlgn="base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5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라즈베리파이는</a:t>
                      </a:r>
                      <a:r>
                        <a:rPr lang="ko-KR" altLang="en-US" sz="2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토픽</a:t>
                      </a:r>
                      <a:r>
                        <a:rPr lang="en-US" altLang="ko-KR" sz="2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(topic)</a:t>
                      </a:r>
                      <a:r>
                        <a:rPr lang="ko-KR" altLang="en-US" sz="2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정해 </a:t>
                      </a:r>
                      <a:r>
                        <a:rPr lang="en-US" altLang="ko-KR" sz="25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HiveMQ</a:t>
                      </a:r>
                      <a:r>
                        <a:rPr lang="en-US" altLang="ko-KR" sz="2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Cloud</a:t>
                      </a:r>
                      <a:r>
                        <a:rPr lang="ko-KR" altLang="en-US" sz="2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데이터를 발행</a:t>
                      </a:r>
                      <a:r>
                        <a:rPr lang="en-US" altLang="ko-KR" sz="2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25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pulish</a:t>
                      </a:r>
                      <a:r>
                        <a:rPr lang="en-US" altLang="ko-KR" sz="2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2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하고 서버는 구독</a:t>
                      </a:r>
                      <a:r>
                        <a:rPr lang="en-US" altLang="ko-KR" sz="2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(subscribe)</a:t>
                      </a:r>
                      <a:r>
                        <a:rPr lang="ko-KR" altLang="en-US" sz="2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통해 실시간 환경 데이터를 </a:t>
                      </a:r>
                      <a:r>
                        <a:rPr lang="en-US" altLang="ko-KR" sz="2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RDS </a:t>
                      </a:r>
                      <a:r>
                        <a:rPr lang="ko-KR" altLang="en-US" sz="2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데이터베이스에 저장한다</a:t>
                      </a:r>
                      <a:r>
                        <a:rPr lang="en-US" altLang="ko-KR" sz="2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25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sz="25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0964359"/>
                  </a:ext>
                </a:extLst>
              </a:tr>
            </a:tbl>
          </a:graphicData>
        </a:graphic>
      </p:graphicFrame>
      <p:graphicFrame>
        <p:nvGraphicFramePr>
          <p:cNvPr id="86" name="표 85">
            <a:extLst>
              <a:ext uri="{FF2B5EF4-FFF2-40B4-BE49-F238E27FC236}">
                <a16:creationId xmlns:a16="http://schemas.microsoft.com/office/drawing/2014/main" id="{A6FACB19-FEE2-D4DE-A004-3494246368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579135"/>
              </p:ext>
            </p:extLst>
          </p:nvPr>
        </p:nvGraphicFramePr>
        <p:xfrm>
          <a:off x="10879143" y="6594519"/>
          <a:ext cx="9618852" cy="88203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9213">
                  <a:extLst>
                    <a:ext uri="{9D8B030D-6E8A-4147-A177-3AD203B41FA5}">
                      <a16:colId xmlns:a16="http://schemas.microsoft.com/office/drawing/2014/main" val="1691538132"/>
                    </a:ext>
                  </a:extLst>
                </a:gridCol>
                <a:gridCol w="4909639">
                  <a:extLst>
                    <a:ext uri="{9D8B030D-6E8A-4147-A177-3AD203B41FA5}">
                      <a16:colId xmlns:a16="http://schemas.microsoft.com/office/drawing/2014/main" val="789442571"/>
                    </a:ext>
                  </a:extLst>
                </a:gridCol>
              </a:tblGrid>
              <a:tr h="322665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686188"/>
                  </a:ext>
                </a:extLst>
              </a:tr>
              <a:tr h="5533501">
                <a:tc gridSpan="2"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  <a:p>
                      <a:pPr marL="457200" lvl="0" indent="-457200" fontAlgn="base" latinLnBrk="1">
                        <a:buFont typeface="Arial" panose="020B0604020202020204" pitchFamily="34" charset="0"/>
                        <a:buChar char="•"/>
                      </a:pPr>
                      <a:endParaRPr lang="en-US" altLang="ko-KR" sz="2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7200" lvl="0" indent="-457200" fontAlgn="base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기능 설명 </a:t>
                      </a:r>
                      <a:r>
                        <a:rPr lang="en-US" altLang="ko-KR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ko-KR" altLang="en-US" sz="2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en-US" altLang="ko-KR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IoT </a:t>
                      </a:r>
                      <a:r>
                        <a:rPr lang="ko-KR" alt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센서 네트워크</a:t>
                      </a:r>
                      <a:r>
                        <a:rPr lang="en-US" altLang="ko-KR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Arduino</a:t>
                      </a:r>
                      <a:r>
                        <a:rPr lang="ko-KR" alt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온도</a:t>
                      </a:r>
                      <a:r>
                        <a:rPr lang="en-US" altLang="ko-KR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습도</a:t>
                      </a:r>
                      <a:r>
                        <a:rPr lang="en-US" altLang="ko-KR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미세먼지</a:t>
                      </a:r>
                      <a:r>
                        <a:rPr lang="en-US" altLang="ko-KR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전류 데이터를 실시간으로 측정하고</a:t>
                      </a:r>
                      <a:r>
                        <a:rPr lang="en-US" altLang="ko-KR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Raspberry Pi </a:t>
                      </a:r>
                      <a:r>
                        <a:rPr lang="ko-KR" alt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</a:t>
                      </a:r>
                      <a:r>
                        <a:rPr lang="en-US" altLang="ko-KR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MQTT </a:t>
                      </a:r>
                      <a:r>
                        <a:rPr lang="ko-KR" alt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프로토콜을 통해 서버로 전송한다</a:t>
                      </a:r>
                      <a:r>
                        <a:rPr lang="en-US" altLang="ko-KR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2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en-US" altLang="ko-KR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자동 제어 기능</a:t>
                      </a:r>
                      <a:r>
                        <a:rPr lang="en-US" altLang="ko-KR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미세먼지 농도 변화에 따라 팬의 작동 속도를 자동으로 조절한다</a:t>
                      </a:r>
                      <a:r>
                        <a:rPr lang="en-US" altLang="ko-KR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2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en-US" altLang="ko-KR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수동 제어 기능</a:t>
                      </a:r>
                      <a:r>
                        <a:rPr lang="en-US" altLang="ko-KR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사용자는 </a:t>
                      </a:r>
                      <a:r>
                        <a:rPr lang="en-US" altLang="ko-KR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 UI</a:t>
                      </a:r>
                      <a:r>
                        <a:rPr lang="ko-KR" alt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 팬의 상태를 직접 제어하며</a:t>
                      </a:r>
                      <a:r>
                        <a:rPr lang="en-US" altLang="ko-KR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명령은 서버를 거쳐 실시간 반영된다</a:t>
                      </a:r>
                      <a:r>
                        <a:rPr lang="en-US" altLang="ko-KR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2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156978"/>
                  </a:ext>
                </a:extLst>
              </a:tr>
            </a:tbl>
          </a:graphicData>
        </a:graphic>
      </p:graphicFrame>
      <p:sp>
        <p:nvSpPr>
          <p:cNvPr id="283" name="사각형: 둥근 모서리 282">
            <a:extLst>
              <a:ext uri="{FF2B5EF4-FFF2-40B4-BE49-F238E27FC236}">
                <a16:creationId xmlns:a16="http://schemas.microsoft.com/office/drawing/2014/main" id="{1BB9E046-692C-0FBC-C641-5E7FED758EA7}"/>
              </a:ext>
            </a:extLst>
          </p:cNvPr>
          <p:cNvSpPr/>
          <p:nvPr/>
        </p:nvSpPr>
        <p:spPr>
          <a:xfrm>
            <a:off x="688578" y="5265168"/>
            <a:ext cx="9724290" cy="761695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3897" rIns="253897" rtlCol="0" anchor="ctr"/>
          <a:lstStyle/>
          <a:p>
            <a:pPr marL="0" marR="0" indent="0" algn="l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3600" b="1" kern="0" spc="0" dirty="0" err="1">
                <a:solidFill>
                  <a:srgbClr val="FFFFFF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작품의</a:t>
            </a:r>
            <a:r>
              <a:rPr lang="en-US" altLang="ko-KR" sz="3600" b="1" kern="0" spc="0" dirty="0">
                <a:solidFill>
                  <a:srgbClr val="FFFFFF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  <a:r>
              <a:rPr lang="en-US" altLang="ko-KR" sz="3600" b="1" kern="0" spc="0" dirty="0" err="1">
                <a:solidFill>
                  <a:srgbClr val="FFFFFF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개요</a:t>
            </a:r>
            <a:endParaRPr lang="en-US" altLang="ko-KR" sz="3600" b="1" kern="0" spc="0" dirty="0">
              <a:solidFill>
                <a:srgbClr val="FFFFFF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</p:txBody>
      </p:sp>
      <p:sp>
        <p:nvSpPr>
          <p:cNvPr id="286" name="사각형: 둥근 모서리 285">
            <a:extLst>
              <a:ext uri="{FF2B5EF4-FFF2-40B4-BE49-F238E27FC236}">
                <a16:creationId xmlns:a16="http://schemas.microsoft.com/office/drawing/2014/main" id="{50F4F420-F5D2-5D8E-81C1-DA59CC503B5D}"/>
              </a:ext>
            </a:extLst>
          </p:cNvPr>
          <p:cNvSpPr/>
          <p:nvPr/>
        </p:nvSpPr>
        <p:spPr>
          <a:xfrm>
            <a:off x="688578" y="11956961"/>
            <a:ext cx="9724290" cy="761695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3897" rIns="253897" rtlCol="0" anchor="ctr"/>
          <a:lstStyle/>
          <a:p>
            <a:pPr marL="0" marR="0" indent="0" algn="l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3600" b="1" kern="0" spc="0" dirty="0" err="1">
                <a:solidFill>
                  <a:srgbClr val="FFFFFF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작품의</a:t>
            </a:r>
            <a:r>
              <a:rPr lang="en-US" altLang="ko-KR" sz="3600" b="1" kern="0" spc="0" dirty="0">
                <a:solidFill>
                  <a:srgbClr val="FFFFFF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  <a:r>
              <a:rPr lang="en-US" altLang="ko-KR" sz="3600" b="1" kern="0" spc="0" dirty="0" err="1">
                <a:solidFill>
                  <a:srgbClr val="FFFFFF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구성</a:t>
            </a:r>
            <a:r>
              <a:rPr lang="en-US" altLang="ko-KR" sz="3600" b="1" kern="0" spc="0" dirty="0">
                <a:solidFill>
                  <a:srgbClr val="FFFFFF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및 </a:t>
            </a:r>
            <a:r>
              <a:rPr lang="en-US" altLang="ko-KR" sz="3600" b="1" kern="0" spc="0" dirty="0" err="1">
                <a:solidFill>
                  <a:srgbClr val="FFFFFF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동작</a:t>
            </a:r>
            <a:r>
              <a:rPr lang="en-US" altLang="ko-KR" sz="3600" b="1" kern="0" spc="0" dirty="0">
                <a:solidFill>
                  <a:srgbClr val="FFFFFF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  <a:r>
              <a:rPr lang="en-US" altLang="ko-KR" sz="3600" b="1" kern="0" spc="0" dirty="0" err="1">
                <a:solidFill>
                  <a:srgbClr val="FFFFFF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설명</a:t>
            </a:r>
            <a:r>
              <a:rPr lang="en-US" altLang="ko-KR" sz="3600" b="1" kern="0" spc="0" dirty="0">
                <a:solidFill>
                  <a:srgbClr val="FFFFFF"/>
                </a:solidFill>
                <a:effectLst/>
                <a:latin typeface="함초롬바탕" panose="02030604000101010101" pitchFamily="18" charset="-127"/>
                <a:ea typeface="한컴바탕"/>
              </a:rPr>
              <a:t> </a:t>
            </a:r>
            <a:endParaRPr lang="en-US" altLang="ko-KR" sz="3600" b="1" kern="0" spc="0" dirty="0">
              <a:solidFill>
                <a:srgbClr val="FFFFFF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</p:txBody>
      </p:sp>
      <p:sp>
        <p:nvSpPr>
          <p:cNvPr id="289" name="사각형: 둥근 모서리 288">
            <a:extLst>
              <a:ext uri="{FF2B5EF4-FFF2-40B4-BE49-F238E27FC236}">
                <a16:creationId xmlns:a16="http://schemas.microsoft.com/office/drawing/2014/main" id="{F24C0BDD-D9DE-E9EC-6EE6-EE202DFE92FC}"/>
              </a:ext>
            </a:extLst>
          </p:cNvPr>
          <p:cNvSpPr/>
          <p:nvPr/>
        </p:nvSpPr>
        <p:spPr>
          <a:xfrm>
            <a:off x="665050" y="23011292"/>
            <a:ext cx="9724290" cy="761695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3897" rIns="253897" rtlCol="0" anchor="ctr"/>
          <a:lstStyle/>
          <a:p>
            <a:pPr marL="0" marR="0" indent="0" algn="l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3600" b="1" kern="0" spc="0" dirty="0" err="1">
                <a:solidFill>
                  <a:srgbClr val="FFFFFF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프로젝트</a:t>
            </a:r>
            <a:r>
              <a:rPr lang="en-US" altLang="ko-KR" sz="3600" b="1" kern="0" spc="0" dirty="0">
                <a:solidFill>
                  <a:srgbClr val="FFFFFF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  <a:r>
              <a:rPr lang="en-US" altLang="ko-KR" sz="3600" b="1" kern="0" spc="0" dirty="0" err="1">
                <a:solidFill>
                  <a:srgbClr val="FFFFFF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개발환경</a:t>
            </a:r>
            <a:r>
              <a:rPr lang="en-US" altLang="ko-KR" sz="3600" b="1" kern="0" spc="0" dirty="0">
                <a:solidFill>
                  <a:srgbClr val="FFFFFF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및 </a:t>
            </a:r>
            <a:r>
              <a:rPr lang="en-US" altLang="ko-KR" sz="3600" b="1" kern="0" spc="0" dirty="0" err="1">
                <a:solidFill>
                  <a:srgbClr val="FFFFFF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개발자</a:t>
            </a:r>
            <a:endParaRPr lang="en-US" altLang="ko-KR" sz="3600" b="1" kern="0" spc="0" dirty="0">
              <a:solidFill>
                <a:srgbClr val="FFFFFF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</p:txBody>
      </p:sp>
      <p:sp>
        <p:nvSpPr>
          <p:cNvPr id="292" name="사각형: 둥근 모서리 291">
            <a:extLst>
              <a:ext uri="{FF2B5EF4-FFF2-40B4-BE49-F238E27FC236}">
                <a16:creationId xmlns:a16="http://schemas.microsoft.com/office/drawing/2014/main" id="{92D1E055-E015-2E7E-39EA-2D39F55767D8}"/>
              </a:ext>
            </a:extLst>
          </p:cNvPr>
          <p:cNvSpPr/>
          <p:nvPr/>
        </p:nvSpPr>
        <p:spPr>
          <a:xfrm>
            <a:off x="10978592" y="5265168"/>
            <a:ext cx="9724290" cy="761695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3897" rIns="253897" rtlCol="0" anchor="ctr"/>
          <a:lstStyle/>
          <a:p>
            <a:pPr marL="0" marR="0" indent="0" algn="l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3600" b="1" kern="0" spc="0" dirty="0" err="1">
                <a:solidFill>
                  <a:srgbClr val="FFFFFF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핵심기술</a:t>
            </a:r>
            <a:r>
              <a:rPr lang="en-US" altLang="ko-KR" sz="3600" b="1" kern="0" spc="0" dirty="0">
                <a:solidFill>
                  <a:srgbClr val="FFFFFF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80487AA-3D56-F3E3-BBEF-B9B83139439E}"/>
              </a:ext>
            </a:extLst>
          </p:cNvPr>
          <p:cNvSpPr/>
          <p:nvPr/>
        </p:nvSpPr>
        <p:spPr>
          <a:xfrm>
            <a:off x="1224131" y="-8427"/>
            <a:ext cx="18864565" cy="2984286"/>
          </a:xfrm>
          <a:prstGeom prst="rect">
            <a:avLst/>
          </a:prstGeom>
        </p:spPr>
        <p:txBody>
          <a:bodyPr wrap="square" lIns="70747" tIns="35373" rIns="70747" bIns="35373">
            <a:spAutoFit/>
          </a:bodyPr>
          <a:lstStyle/>
          <a:p>
            <a:pPr marL="0" marR="0" indent="0" algn="ctr" fontAlgn="base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tabLst>
                <a:tab pos="15690850" algn="l"/>
              </a:tabLst>
            </a:pPr>
            <a:r>
              <a:rPr lang="en-US" altLang="ko-KR" sz="4400" b="1" kern="0" spc="0" dirty="0">
                <a:solidFill>
                  <a:srgbClr val="FFFF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IoT </a:t>
            </a:r>
            <a:r>
              <a:rPr lang="ko-KR" altLang="en-US" sz="4400" b="1" kern="0" spc="0" dirty="0">
                <a:solidFill>
                  <a:srgbClr val="FFFF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기반 스마트 환경 관리 시스템</a:t>
            </a:r>
            <a:endParaRPr lang="en-US" altLang="ko-KR" sz="4400" b="1" kern="0" spc="0" dirty="0">
              <a:solidFill>
                <a:srgbClr val="FFFFFF"/>
              </a:solidFill>
              <a:effectLst/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 algn="ctr" fontAlgn="base" latinLnBrk="0">
              <a:lnSpc>
                <a:spcPct val="150000"/>
              </a:lnSpc>
              <a:tabLst>
                <a:tab pos="15690850" algn="l"/>
              </a:tabLst>
            </a:pPr>
            <a:r>
              <a:rPr lang="fr-FR" altLang="ko-KR" sz="4400" b="1" kern="0" spc="0" dirty="0">
                <a:solidFill>
                  <a:srgbClr val="FFFF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SEMS (Smart Environment Management System)</a:t>
            </a:r>
            <a:endParaRPr lang="fr-FR" altLang="ko-KR" sz="4400" kern="0" spc="0" dirty="0">
              <a:solidFill>
                <a:srgbClr val="000000"/>
              </a:solidFill>
              <a:effectLst/>
              <a:latin typeface="함초롬돋움" panose="020B0604000101010101" pitchFamily="50" charset="-127"/>
            </a:endParaRPr>
          </a:p>
          <a:p>
            <a:pPr marL="0" marR="0" indent="0" algn="ctr" fontAlgn="base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tabLst>
                <a:tab pos="15690850" algn="l"/>
              </a:tabLst>
            </a:pPr>
            <a:endParaRPr lang="ko-KR" altLang="en-US" sz="4400" kern="0" spc="0" dirty="0">
              <a:solidFill>
                <a:srgbClr val="000000"/>
              </a:solidFill>
              <a:effectLst/>
              <a:latin typeface="함초롬돋움" panose="020B0604000101010101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397CBC2-8135-A151-FABE-E1AE8C6B08D3}"/>
              </a:ext>
            </a:extLst>
          </p:cNvPr>
          <p:cNvSpPr/>
          <p:nvPr/>
        </p:nvSpPr>
        <p:spPr>
          <a:xfrm>
            <a:off x="2670536" y="3036968"/>
            <a:ext cx="16042552" cy="709625"/>
          </a:xfrm>
          <a:prstGeom prst="rect">
            <a:avLst/>
          </a:prstGeom>
        </p:spPr>
        <p:txBody>
          <a:bodyPr wrap="square" lIns="70747" tIns="35373" rIns="70747" bIns="35373">
            <a:spAutoFit/>
          </a:bodyPr>
          <a:lstStyle/>
          <a:p>
            <a:pPr marL="0" marR="0" indent="0" algn="ctr" fontAlgn="base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tabLst>
                <a:tab pos="15690850" algn="l"/>
              </a:tabLst>
            </a:pPr>
            <a:r>
              <a:rPr lang="ko-KR" altLang="en-US" sz="3200" b="1" kern="0" spc="0" dirty="0">
                <a:solidFill>
                  <a:srgbClr val="FFFF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김현호</a:t>
            </a:r>
            <a:r>
              <a:rPr lang="en-US" altLang="ko-KR" sz="3200" b="1" kern="0" spc="0" dirty="0">
                <a:solidFill>
                  <a:srgbClr val="FFFF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, </a:t>
            </a:r>
            <a:r>
              <a:rPr lang="ko-KR" altLang="en-US" sz="3200" b="1" kern="0" spc="0" dirty="0">
                <a:solidFill>
                  <a:srgbClr val="FFFF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나은주</a:t>
            </a:r>
            <a:r>
              <a:rPr lang="en-US" altLang="ko-KR" sz="3200" b="1" kern="0" spc="0" dirty="0">
                <a:solidFill>
                  <a:srgbClr val="FFFF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, </a:t>
            </a:r>
            <a:r>
              <a:rPr lang="ko-KR" altLang="en-US" sz="3200" b="1" kern="0" spc="0" dirty="0">
                <a:solidFill>
                  <a:srgbClr val="FFFF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임종원</a:t>
            </a:r>
            <a:r>
              <a:rPr lang="en-US" altLang="ko-KR" sz="3200" b="1" kern="0" spc="0" dirty="0">
                <a:solidFill>
                  <a:srgbClr val="FFFF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, </a:t>
            </a:r>
            <a:r>
              <a:rPr lang="ko-KR" altLang="en-US" sz="3200" b="1" kern="0" spc="0" dirty="0">
                <a:solidFill>
                  <a:srgbClr val="FFFF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한민서</a:t>
            </a:r>
            <a:endParaRPr lang="ko-KR" altLang="en-US" sz="3200" kern="0" spc="0" dirty="0">
              <a:solidFill>
                <a:srgbClr val="000000"/>
              </a:solidFill>
              <a:effectLst/>
              <a:latin typeface="함초롬돋움" panose="020B0604000101010101" pitchFamily="50" charset="-127"/>
            </a:endParaRP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DEC7F2C7-DF14-4589-80F0-0BF26CE2D5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49178" y="28632147"/>
            <a:ext cx="5718585" cy="957792"/>
          </a:xfrm>
          <a:prstGeom prst="rect">
            <a:avLst/>
          </a:prstGeom>
        </p:spPr>
      </p:pic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A67A920C-7F84-43D6-98A3-13D7D447A0B8}"/>
              </a:ext>
            </a:extLst>
          </p:cNvPr>
          <p:cNvSpPr/>
          <p:nvPr/>
        </p:nvSpPr>
        <p:spPr>
          <a:xfrm>
            <a:off x="2573671" y="2343934"/>
            <a:ext cx="16042552" cy="563879"/>
          </a:xfrm>
          <a:prstGeom prst="rect">
            <a:avLst/>
          </a:prstGeom>
        </p:spPr>
        <p:txBody>
          <a:bodyPr wrap="square" lIns="70747" tIns="35373" rIns="70747" bIns="35373">
            <a:spAutoFit/>
          </a:bodyPr>
          <a:lstStyle/>
          <a:p>
            <a:pPr marL="0" marR="0" indent="0" algn="ctr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5690850" algn="l"/>
              </a:tabLst>
            </a:pPr>
            <a:r>
              <a:rPr lang="ko-KR" altLang="en-US" sz="3200" b="1" kern="0" spc="0" dirty="0">
                <a:solidFill>
                  <a:srgbClr val="FFFF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동양미래대학교 </a:t>
            </a:r>
            <a:r>
              <a:rPr lang="ko-KR" altLang="en-US" sz="3200" b="1" kern="0" spc="0" dirty="0" err="1">
                <a:solidFill>
                  <a:srgbClr val="FFFF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컴퓨터소프트웨어공학과</a:t>
            </a:r>
            <a:r>
              <a:rPr lang="ko-KR" altLang="en-US" sz="3200" b="1" kern="0" spc="0" dirty="0">
                <a:solidFill>
                  <a:srgbClr val="FFFF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sz="3200" b="1" kern="0" spc="0" dirty="0">
                <a:solidFill>
                  <a:srgbClr val="FFFF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3-YA</a:t>
            </a:r>
            <a:r>
              <a:rPr lang="ko-KR" altLang="en-US" sz="3200" b="1" kern="0" spc="0" dirty="0">
                <a:solidFill>
                  <a:srgbClr val="FFFF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반 </a:t>
            </a:r>
            <a:r>
              <a:rPr lang="en-US" altLang="ko-KR" sz="3200" b="1" kern="0" spc="0" dirty="0">
                <a:solidFill>
                  <a:srgbClr val="FFFF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404 Not Found</a:t>
            </a:r>
            <a:r>
              <a:rPr lang="ko-KR" altLang="en-US" sz="3200" b="1" kern="0" spc="0" dirty="0">
                <a:solidFill>
                  <a:srgbClr val="FFFF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팀</a:t>
            </a:r>
            <a:endParaRPr lang="ko-KR" altLang="en-US" sz="3200" kern="0" spc="0" dirty="0">
              <a:solidFill>
                <a:srgbClr val="000000"/>
              </a:solidFill>
              <a:effectLst/>
              <a:latin typeface="함초롬돋움" panose="020B0604000101010101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651C02C-D83F-4D45-A3F4-D83E81399E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7683" y="27449654"/>
            <a:ext cx="2640345" cy="2640345"/>
          </a:xfrm>
          <a:prstGeom prst="rect">
            <a:avLst/>
          </a:prstGeom>
        </p:spPr>
      </p:pic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C53AE3C2-B36F-4A97-8460-EF1DAE57052A}"/>
              </a:ext>
            </a:extLst>
          </p:cNvPr>
          <p:cNvSpPr/>
          <p:nvPr/>
        </p:nvSpPr>
        <p:spPr>
          <a:xfrm>
            <a:off x="2726519" y="3662924"/>
            <a:ext cx="16042552" cy="709625"/>
          </a:xfrm>
          <a:prstGeom prst="rect">
            <a:avLst/>
          </a:prstGeom>
        </p:spPr>
        <p:txBody>
          <a:bodyPr wrap="square" lIns="70747" tIns="35373" rIns="70747" bIns="35373">
            <a:spAutoFit/>
          </a:bodyPr>
          <a:lstStyle/>
          <a:p>
            <a:pPr marL="0" marR="0" indent="0" algn="ctr" fontAlgn="base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tabLst>
                <a:tab pos="15690850" algn="l"/>
              </a:tabLst>
            </a:pPr>
            <a:r>
              <a:rPr lang="ko-KR" altLang="en-US" sz="3200" b="1" kern="0" spc="0" dirty="0">
                <a:solidFill>
                  <a:srgbClr val="FFFF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지도교수</a:t>
            </a:r>
            <a:r>
              <a:rPr lang="en-US" altLang="ko-KR" sz="3200" b="1" kern="0" spc="0" dirty="0">
                <a:solidFill>
                  <a:srgbClr val="FFFF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: </a:t>
            </a:r>
            <a:r>
              <a:rPr lang="ko-KR" altLang="en-US" sz="3200" b="1" kern="0" spc="0" dirty="0">
                <a:solidFill>
                  <a:srgbClr val="FFFF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정석용</a:t>
            </a:r>
            <a:endParaRPr lang="ko-KR" altLang="en-US" sz="3200" kern="0" spc="0" dirty="0">
              <a:solidFill>
                <a:srgbClr val="000000"/>
              </a:solidFill>
              <a:effectLst/>
              <a:latin typeface="함초롬돋움" panose="020B0604000101010101" pitchFamily="50" charset="-127"/>
            </a:endParaRP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32649E2A-3E83-D297-B47A-878F8281D2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050" y="7395175"/>
            <a:ext cx="4603123" cy="3067965"/>
          </a:xfrm>
          <a:prstGeom prst="rect">
            <a:avLst/>
          </a:prstGeom>
          <a:noFill/>
          <a:ln>
            <a:noFill/>
          </a:ln>
          <a:effectLst/>
        </p:spPr>
      </p:pic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484F408C-5753-D14D-72A5-12CA338B76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06686"/>
              </p:ext>
            </p:extLst>
          </p:nvPr>
        </p:nvGraphicFramePr>
        <p:xfrm>
          <a:off x="900785" y="6121451"/>
          <a:ext cx="9618852" cy="6170486"/>
        </p:xfrm>
        <a:graphic>
          <a:graphicData uri="http://schemas.openxmlformats.org/drawingml/2006/table">
            <a:tbl>
              <a:tblPr/>
              <a:tblGrid>
                <a:gridCol w="4361314">
                  <a:extLst>
                    <a:ext uri="{9D8B030D-6E8A-4147-A177-3AD203B41FA5}">
                      <a16:colId xmlns:a16="http://schemas.microsoft.com/office/drawing/2014/main" val="322411612"/>
                    </a:ext>
                  </a:extLst>
                </a:gridCol>
                <a:gridCol w="5257538">
                  <a:extLst>
                    <a:ext uri="{9D8B030D-6E8A-4147-A177-3AD203B41FA5}">
                      <a16:colId xmlns:a16="http://schemas.microsoft.com/office/drawing/2014/main" val="2804258934"/>
                    </a:ext>
                  </a:extLst>
                </a:gridCol>
              </a:tblGrid>
              <a:tr h="612413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78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ko-KR" alt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환경과 건강에 관한 관심이 높아지면서</a:t>
                      </a:r>
                      <a:r>
                        <a:rPr lang="en-US" altLang="ko-KR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미세먼지</a:t>
                      </a:r>
                      <a:r>
                        <a:rPr lang="en-US" altLang="ko-KR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대기오염 관리와 에너지 효율화가 중요한 사회적 과제로 부상하고 있다</a:t>
                      </a:r>
                      <a:r>
                        <a:rPr lang="en-US" altLang="ko-KR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2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en-US" altLang="ko-KR" sz="2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SEMS</a:t>
                      </a:r>
                      <a:r>
                        <a:rPr lang="ko-KR" alt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</a:t>
                      </a:r>
                      <a:r>
                        <a:rPr lang="en-US" altLang="ko-KR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IoT </a:t>
                      </a:r>
                      <a:r>
                        <a:rPr lang="ko-KR" alt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센서와 </a:t>
                      </a:r>
                      <a:r>
                        <a:rPr lang="en-US" altLang="ko-KR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MQTT </a:t>
                      </a:r>
                      <a:r>
                        <a:rPr lang="ko-KR" alt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통신을 기반으로</a:t>
                      </a:r>
                      <a:r>
                        <a:rPr lang="en-US" altLang="ko-KR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온도</a:t>
                      </a:r>
                      <a:r>
                        <a:rPr lang="en-US" altLang="ko-KR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습도</a:t>
                      </a:r>
                      <a:r>
                        <a:rPr lang="en-US" altLang="ko-KR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미세먼지를 실시간으로 모니터링하고 자동으로 제어하는 스마트 환경 관리 서비스를 제공한다</a:t>
                      </a:r>
                      <a:r>
                        <a:rPr lang="en-US" altLang="ko-KR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2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특히</a:t>
                      </a:r>
                      <a:r>
                        <a:rPr lang="en-US" altLang="ko-KR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환경에 민감한 어린이집이나 학교 등에 적용할 경우</a:t>
                      </a:r>
                      <a:r>
                        <a:rPr lang="en-US" altLang="ko-KR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공기질</a:t>
                      </a:r>
                      <a:r>
                        <a:rPr lang="ko-KR" alt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개선과 에너지 낭비를 줄이는 등의 효과가 기대된다</a:t>
                      </a:r>
                      <a:r>
                        <a:rPr lang="en-US" altLang="ko-KR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2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78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915450"/>
                  </a:ext>
                </a:extLst>
              </a:tr>
            </a:tbl>
          </a:graphicData>
        </a:graphic>
      </p:graphicFrame>
      <p:sp>
        <p:nvSpPr>
          <p:cNvPr id="41" name="Rectangle 14">
            <a:extLst>
              <a:ext uri="{FF2B5EF4-FFF2-40B4-BE49-F238E27FC236}">
                <a16:creationId xmlns:a16="http://schemas.microsoft.com/office/drawing/2014/main" id="{34B5A89A-C36E-DAC9-A941-63D77C67C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469" y="2063928"/>
            <a:ext cx="21862286" cy="273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2" name="_x411593800">
            <a:extLst>
              <a:ext uri="{FF2B5EF4-FFF2-40B4-BE49-F238E27FC236}">
                <a16:creationId xmlns:a16="http://schemas.microsoft.com/office/drawing/2014/main" id="{2D7CAB20-AF48-5867-9ED1-828AA7D8B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73" y="17180055"/>
            <a:ext cx="10041720" cy="5837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</a:bodyPr>
          <a:lstStyle/>
          <a:p>
            <a:pPr marL="457200" indent="-457200" defTabSz="91440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ko-KR" sz="3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(</a:t>
            </a:r>
            <a:r>
              <a:rPr kumimoji="0" lang="ko-KR" altLang="en-US" sz="3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굴림체" panose="020B0609000101010101" pitchFamily="49" charset="-127"/>
              </a:rPr>
              <a:t>환경 데이터 모니터링</a:t>
            </a:r>
            <a:r>
              <a:rPr kumimoji="0" lang="en-US" altLang="ko-KR" sz="3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) </a:t>
            </a:r>
            <a:r>
              <a:rPr kumimoji="0" lang="en-US" altLang="ko-KR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Arduino</a:t>
            </a:r>
            <a:r>
              <a:rPr kumimoji="0" lang="ko-KR" altLang="en-US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굴림체" panose="020B0609000101010101" pitchFamily="49" charset="-127"/>
              </a:rPr>
              <a:t>는 온도</a:t>
            </a:r>
            <a:r>
              <a:rPr kumimoji="0" lang="en-US" altLang="ko-KR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·</a:t>
            </a:r>
            <a:r>
              <a:rPr kumimoji="0" lang="ko-KR" altLang="en-US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굴림체" panose="020B0609000101010101" pitchFamily="49" charset="-127"/>
              </a:rPr>
              <a:t>습도</a:t>
            </a:r>
            <a:r>
              <a:rPr kumimoji="0" lang="en-US" altLang="ko-KR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·</a:t>
            </a:r>
            <a:r>
              <a:rPr kumimoji="0" lang="ko-KR" altLang="en-US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굴림체" panose="020B0609000101010101" pitchFamily="49" charset="-127"/>
              </a:rPr>
              <a:t>미세먼지</a:t>
            </a:r>
            <a:r>
              <a:rPr kumimoji="0" lang="en-US" altLang="ko-KR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·</a:t>
            </a:r>
            <a:r>
              <a:rPr kumimoji="0" lang="ko-KR" altLang="en-US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굴림체" panose="020B0609000101010101" pitchFamily="49" charset="-127"/>
              </a:rPr>
              <a:t>전류 데이터를 측정하고</a:t>
            </a:r>
            <a:r>
              <a:rPr kumimoji="0" lang="en-US" altLang="ko-KR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, Raspberry Pi(RPI)</a:t>
            </a:r>
            <a:r>
              <a:rPr kumimoji="0" lang="ko-KR" altLang="en-US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굴림체" panose="020B0609000101010101" pitchFamily="49" charset="-127"/>
              </a:rPr>
              <a:t>로 전송한다</a:t>
            </a:r>
            <a:r>
              <a:rPr kumimoji="0" lang="en-US" altLang="ko-KR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. RPI</a:t>
            </a:r>
            <a:r>
              <a:rPr kumimoji="0" lang="ko-KR" altLang="en-US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굴림체" panose="020B0609000101010101" pitchFamily="49" charset="-127"/>
              </a:rPr>
              <a:t>는 수집한 데이터를 </a:t>
            </a:r>
            <a:r>
              <a:rPr kumimoji="0" lang="en-US" altLang="ko-KR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MQTT </a:t>
            </a:r>
            <a:r>
              <a:rPr kumimoji="0" lang="ko-KR" altLang="en-US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굴림체" panose="020B0609000101010101" pitchFamily="49" charset="-127"/>
              </a:rPr>
              <a:t>통신으로 </a:t>
            </a:r>
            <a:r>
              <a:rPr kumimoji="0" lang="en-US" altLang="ko-KR" sz="3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HiveMQ</a:t>
            </a:r>
            <a:r>
              <a:rPr kumimoji="0" lang="en-US" altLang="ko-KR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Cloud </a:t>
            </a:r>
            <a:r>
              <a:rPr kumimoji="0" lang="en-US" altLang="ko-KR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굴림체" panose="020B0609000101010101" pitchFamily="49" charset="-127"/>
              </a:rPr>
              <a:t>→ </a:t>
            </a:r>
            <a:r>
              <a:rPr kumimoji="0" lang="ko-KR" altLang="en-US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굴림체" panose="020B0609000101010101" pitchFamily="49" charset="-127"/>
              </a:rPr>
              <a:t>서버</a:t>
            </a:r>
            <a:r>
              <a:rPr kumimoji="0" lang="en-US" altLang="ko-KR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(Spring Boot)</a:t>
            </a:r>
            <a:r>
              <a:rPr kumimoji="0" lang="ko-KR" altLang="en-US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굴림체" panose="020B0609000101010101" pitchFamily="49" charset="-127"/>
              </a:rPr>
              <a:t>로 발행</a:t>
            </a:r>
            <a:r>
              <a:rPr kumimoji="0" lang="en-US" altLang="ko-KR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(Publish)</a:t>
            </a:r>
            <a:r>
              <a:rPr kumimoji="0" lang="ko-KR" altLang="en-US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굴림체" panose="020B0609000101010101" pitchFamily="49" charset="-127"/>
              </a:rPr>
              <a:t>하며</a:t>
            </a:r>
            <a:r>
              <a:rPr kumimoji="0" lang="en-US" altLang="ko-KR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, </a:t>
            </a:r>
            <a:r>
              <a:rPr kumimoji="0" lang="ko-KR" altLang="en-US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굴림체" panose="020B0609000101010101" pitchFamily="49" charset="-127"/>
              </a:rPr>
              <a:t>서버</a:t>
            </a:r>
            <a:r>
              <a:rPr kumimoji="0" lang="en-US" altLang="ko-KR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(Spring Boot)</a:t>
            </a:r>
            <a:r>
              <a:rPr kumimoji="0" lang="ko-KR" altLang="en-US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굴림체" panose="020B0609000101010101" pitchFamily="49" charset="-127"/>
              </a:rPr>
              <a:t>는 환경 데이터를 </a:t>
            </a:r>
            <a:r>
              <a:rPr kumimoji="0" lang="en-US" altLang="ko-KR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DB</a:t>
            </a:r>
            <a:r>
              <a:rPr kumimoji="0" lang="ko-KR" altLang="en-US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굴림체" panose="020B0609000101010101" pitchFamily="49" charset="-127"/>
              </a:rPr>
              <a:t>에 저장하고 그래프로 </a:t>
            </a:r>
            <a:r>
              <a:rPr kumimoji="0" lang="ko-KR" altLang="en-US" sz="3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굴림체" panose="020B0609000101010101" pitchFamily="49" charset="-127"/>
              </a:rPr>
              <a:t>시각화한다</a:t>
            </a:r>
            <a:r>
              <a:rPr kumimoji="0" lang="en-US" altLang="ko-KR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.</a:t>
            </a:r>
          </a:p>
          <a:p>
            <a:pPr marL="457200" indent="-457200" defTabSz="91440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ko-KR" sz="3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3000" b="1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(</a:t>
            </a:r>
            <a:r>
              <a:rPr kumimoji="0" lang="ko-KR" altLang="en-US" sz="3000" b="1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굴림체" panose="020B0609000101010101" pitchFamily="49" charset="-127"/>
              </a:rPr>
              <a:t>환경 데이터 자동 제어</a:t>
            </a:r>
            <a:r>
              <a:rPr kumimoji="0" lang="en-US" altLang="ko-KR" sz="3000" b="1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) </a:t>
            </a:r>
            <a:r>
              <a:rPr kumimoji="0" lang="ko-KR" altLang="en-US" sz="30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굴림체" panose="020B0609000101010101" pitchFamily="49" charset="-127"/>
              </a:rPr>
              <a:t>사용자가 </a:t>
            </a:r>
            <a:r>
              <a:rPr kumimoji="0" lang="en-US" altLang="ko-KR" sz="3000" b="1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Web UI</a:t>
            </a:r>
            <a:r>
              <a:rPr kumimoji="0" lang="ko-KR" altLang="en-US" sz="30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굴림체" panose="020B0609000101010101" pitchFamily="49" charset="-127"/>
              </a:rPr>
              <a:t>에서 환기 </a:t>
            </a:r>
            <a:r>
              <a:rPr kumimoji="0" lang="ko-KR" altLang="en-US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굴림체" panose="020B0609000101010101" pitchFamily="49" charset="-127"/>
              </a:rPr>
              <a:t>장치를 조작하면</a:t>
            </a:r>
            <a:r>
              <a:rPr kumimoji="0" lang="en-US" altLang="ko-KR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, </a:t>
            </a:r>
            <a:r>
              <a:rPr kumimoji="0" lang="ko-KR" altLang="en-US" sz="3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굴림체" panose="020B0609000101010101" pitchFamily="49" charset="-127"/>
              </a:rPr>
              <a:t>서버</a:t>
            </a:r>
            <a:r>
              <a:rPr kumimoji="0" lang="en-US" altLang="ko-KR" sz="3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(Spring Boot)</a:t>
            </a:r>
            <a:r>
              <a:rPr kumimoji="0" lang="ko-KR" altLang="en-US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굴림체" panose="020B0609000101010101" pitchFamily="49" charset="-127"/>
              </a:rPr>
              <a:t>가 </a:t>
            </a:r>
            <a:r>
              <a:rPr kumimoji="0" lang="ko-KR" altLang="en-US" sz="3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굴림체" panose="020B0609000101010101" pitchFamily="49" charset="-127"/>
              </a:rPr>
              <a:t>제어 명령을 </a:t>
            </a:r>
            <a:r>
              <a:rPr kumimoji="0" lang="en-US" altLang="ko-KR" sz="3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MQTT</a:t>
            </a:r>
            <a:r>
              <a:rPr kumimoji="0" lang="ko-KR" altLang="en-US" sz="3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굴림체" panose="020B0609000101010101" pitchFamily="49" charset="-127"/>
              </a:rPr>
              <a:t>로 발행</a:t>
            </a:r>
            <a:r>
              <a:rPr kumimoji="0" lang="ko-KR" altLang="en-US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굴림체" panose="020B0609000101010101" pitchFamily="49" charset="-127"/>
              </a:rPr>
              <a:t>한다</a:t>
            </a:r>
            <a:r>
              <a:rPr kumimoji="0" lang="en-US" altLang="ko-KR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. </a:t>
            </a:r>
            <a:r>
              <a:rPr kumimoji="0" lang="ko-KR" altLang="en-US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굴림체" panose="020B0609000101010101" pitchFamily="49" charset="-127"/>
              </a:rPr>
              <a:t>명령은 </a:t>
            </a:r>
            <a:r>
              <a:rPr kumimoji="0" lang="en-US" altLang="ko-KR" sz="3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HiveMQ</a:t>
            </a:r>
            <a:r>
              <a:rPr kumimoji="0" lang="en-US" altLang="ko-KR" sz="3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Cloud </a:t>
            </a:r>
            <a:r>
              <a:rPr kumimoji="0" lang="en-US" altLang="ko-KR" sz="3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굴림체" panose="020B0609000101010101" pitchFamily="49" charset="-127"/>
              </a:rPr>
              <a:t>→ </a:t>
            </a:r>
            <a:r>
              <a:rPr kumimoji="0" lang="en-US" altLang="ko-KR" sz="3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Raspberry Pi </a:t>
            </a:r>
            <a:r>
              <a:rPr kumimoji="0" lang="en-US" altLang="ko-KR" sz="3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굴림체" panose="020B0609000101010101" pitchFamily="49" charset="-127"/>
              </a:rPr>
              <a:t>→ </a:t>
            </a:r>
            <a:r>
              <a:rPr kumimoji="0" lang="en-US" altLang="ko-KR" sz="3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Arduino</a:t>
            </a:r>
            <a:r>
              <a:rPr kumimoji="0" lang="en-US" altLang="ko-KR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굴림체" panose="020B0609000101010101" pitchFamily="49" charset="-127"/>
              </a:rPr>
              <a:t> </a:t>
            </a:r>
            <a:r>
              <a:rPr kumimoji="0" lang="ko-KR" altLang="en-US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굴림체" panose="020B0609000101010101" pitchFamily="49" charset="-127"/>
              </a:rPr>
              <a:t>순으로 전달되어 </a:t>
            </a:r>
            <a:r>
              <a:rPr kumimoji="0" lang="ko-KR" altLang="en-US" sz="3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굴림체" panose="020B0609000101010101" pitchFamily="49" charset="-127"/>
              </a:rPr>
              <a:t>팬의 전원</a:t>
            </a:r>
            <a:r>
              <a:rPr kumimoji="0" lang="en-US" altLang="ko-KR" sz="3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·</a:t>
            </a:r>
            <a:r>
              <a:rPr kumimoji="0" lang="ko-KR" altLang="en-US" sz="3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굴림체" panose="020B0609000101010101" pitchFamily="49" charset="-127"/>
              </a:rPr>
              <a:t>속도</a:t>
            </a:r>
            <a:r>
              <a:rPr kumimoji="0" lang="en-US" altLang="ko-KR" sz="3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·</a:t>
            </a:r>
            <a:r>
              <a:rPr kumimoji="0" lang="ko-KR" altLang="en-US" sz="3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굴림체" panose="020B0609000101010101" pitchFamily="49" charset="-127"/>
              </a:rPr>
              <a:t>모드</a:t>
            </a:r>
            <a:r>
              <a:rPr kumimoji="0" lang="ko-KR" altLang="en-US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굴림체" panose="020B0609000101010101" pitchFamily="49" charset="-127"/>
              </a:rPr>
              <a:t>를 제어한다</a:t>
            </a:r>
            <a:r>
              <a:rPr kumimoji="0" lang="en-US" altLang="ko-KR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.</a:t>
            </a:r>
          </a:p>
        </p:txBody>
      </p:sp>
      <p:pic>
        <p:nvPicPr>
          <p:cNvPr id="44" name="Picture 5">
            <a:extLst>
              <a:ext uri="{FF2B5EF4-FFF2-40B4-BE49-F238E27FC236}">
                <a16:creationId xmlns:a16="http://schemas.microsoft.com/office/drawing/2014/main" id="{98EFC454-B25C-7C23-B5F0-31ED244E8C2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500" t="5902" r="2120" b="3"/>
          <a:stretch>
            <a:fillRect/>
          </a:stretch>
        </p:blipFill>
        <p:spPr>
          <a:xfrm>
            <a:off x="538471" y="12962565"/>
            <a:ext cx="9835227" cy="3911050"/>
          </a:xfrm>
          <a:prstGeom prst="rect">
            <a:avLst/>
          </a:prstGeom>
          <a:noFill/>
          <a:ln w="14605" cap="rnd">
            <a:solidFill>
              <a:srgbClr val="000000"/>
            </a:solidFill>
            <a:prstDash val="solid"/>
            <a:round/>
          </a:ln>
          <a:effectLst/>
        </p:spPr>
      </p:pic>
      <p:graphicFrame>
        <p:nvGraphicFramePr>
          <p:cNvPr id="64" name="표 63">
            <a:extLst>
              <a:ext uri="{FF2B5EF4-FFF2-40B4-BE49-F238E27FC236}">
                <a16:creationId xmlns:a16="http://schemas.microsoft.com/office/drawing/2014/main" id="{540F8DDB-EC06-DF28-4A3F-BBF77C8A87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319407"/>
              </p:ext>
            </p:extLst>
          </p:nvPr>
        </p:nvGraphicFramePr>
        <p:xfrm>
          <a:off x="971763" y="24066598"/>
          <a:ext cx="4341988" cy="5490224"/>
        </p:xfrm>
        <a:graphic>
          <a:graphicData uri="http://schemas.openxmlformats.org/drawingml/2006/table">
            <a:tbl>
              <a:tblPr/>
              <a:tblGrid>
                <a:gridCol w="1477277">
                  <a:extLst>
                    <a:ext uri="{9D8B030D-6E8A-4147-A177-3AD203B41FA5}">
                      <a16:colId xmlns:a16="http://schemas.microsoft.com/office/drawing/2014/main" val="1539436656"/>
                    </a:ext>
                  </a:extLst>
                </a:gridCol>
                <a:gridCol w="2864711">
                  <a:extLst>
                    <a:ext uri="{9D8B030D-6E8A-4147-A177-3AD203B41FA5}">
                      <a16:colId xmlns:a16="http://schemas.microsoft.com/office/drawing/2014/main" val="2194256310"/>
                    </a:ext>
                  </a:extLst>
                </a:gridCol>
              </a:tblGrid>
              <a:tr h="84883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b="1" kern="0" spc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Category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780" marB="1778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b="1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Technologies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780" marB="1778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80388"/>
                  </a:ext>
                </a:extLst>
              </a:tr>
              <a:tr h="96536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b="1" kern="0" spc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Frontend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780" marB="1778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React, HTML5, JavaScript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780" marB="1778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133852"/>
                  </a:ext>
                </a:extLst>
              </a:tr>
              <a:tr h="96536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b="1" kern="0" spc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Backend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780" marB="1778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kern="0" spc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Spring Boot, Flask,MySQL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780" marB="1778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084021"/>
                  </a:ext>
                </a:extLst>
              </a:tr>
              <a:tr h="96536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500" b="1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임베디드 </a:t>
                      </a:r>
                      <a:r>
                        <a:rPr lang="en-US" sz="2500" b="1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HW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780" marB="1778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kern="0" spc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Arduino, Raspberry Pi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780" marB="1778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398594"/>
                  </a:ext>
                </a:extLst>
              </a:tr>
              <a:tr h="76230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500" b="1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통신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780" marB="1778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kern="0" spc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MQTT, Serial </a:t>
                      </a:r>
                      <a:r>
                        <a:rPr lang="ko-KR" altLang="en-US" sz="2500" kern="0" spc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통신 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780" marB="1778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9657654"/>
                  </a:ext>
                </a:extLst>
              </a:tr>
              <a:tr h="96536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500" b="1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클라우드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780" marB="1778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AWS EC2, RDS, S3, </a:t>
                      </a:r>
                      <a:r>
                        <a:rPr lang="en-US" sz="2500" kern="0" spc="0" dirty="0" err="1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HiveMQ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780" marB="1778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747764"/>
                  </a:ext>
                </a:extLst>
              </a:tr>
            </a:tbl>
          </a:graphicData>
        </a:graphic>
      </p:graphicFrame>
      <p:graphicFrame>
        <p:nvGraphicFramePr>
          <p:cNvPr id="66" name="표 65">
            <a:extLst>
              <a:ext uri="{FF2B5EF4-FFF2-40B4-BE49-F238E27FC236}">
                <a16:creationId xmlns:a16="http://schemas.microsoft.com/office/drawing/2014/main" id="{175A895C-75EF-E62B-DA1A-30350C2A1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0907343"/>
              </p:ext>
            </p:extLst>
          </p:nvPr>
        </p:nvGraphicFramePr>
        <p:xfrm>
          <a:off x="5458294" y="24066598"/>
          <a:ext cx="4951250" cy="5494225"/>
        </p:xfrm>
        <a:graphic>
          <a:graphicData uri="http://schemas.openxmlformats.org/drawingml/2006/table">
            <a:tbl>
              <a:tblPr/>
              <a:tblGrid>
                <a:gridCol w="1238142">
                  <a:extLst>
                    <a:ext uri="{9D8B030D-6E8A-4147-A177-3AD203B41FA5}">
                      <a16:colId xmlns:a16="http://schemas.microsoft.com/office/drawing/2014/main" val="2125783585"/>
                    </a:ext>
                  </a:extLst>
                </a:gridCol>
                <a:gridCol w="1336604">
                  <a:extLst>
                    <a:ext uri="{9D8B030D-6E8A-4147-A177-3AD203B41FA5}">
                      <a16:colId xmlns:a16="http://schemas.microsoft.com/office/drawing/2014/main" val="2539964426"/>
                    </a:ext>
                  </a:extLst>
                </a:gridCol>
                <a:gridCol w="1140277">
                  <a:extLst>
                    <a:ext uri="{9D8B030D-6E8A-4147-A177-3AD203B41FA5}">
                      <a16:colId xmlns:a16="http://schemas.microsoft.com/office/drawing/2014/main" val="711951162"/>
                    </a:ext>
                  </a:extLst>
                </a:gridCol>
                <a:gridCol w="1236227">
                  <a:extLst>
                    <a:ext uri="{9D8B030D-6E8A-4147-A177-3AD203B41FA5}">
                      <a16:colId xmlns:a16="http://schemas.microsoft.com/office/drawing/2014/main" val="3513145897"/>
                    </a:ext>
                  </a:extLst>
                </a:gridCol>
              </a:tblGrid>
              <a:tr h="256065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7780" marR="17780" marT="17780" marB="1778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7780" marR="17780" marT="17780" marB="1778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7780" marR="17780" marT="17780" marB="1778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7780" marR="17780" marT="17780" marB="1778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526213"/>
                  </a:ext>
                </a:extLst>
              </a:tr>
              <a:tr h="2933566">
                <a:tc>
                  <a:txBody>
                    <a:bodyPr/>
                    <a:lstStyle/>
                    <a:p>
                      <a:pPr marL="187960" marR="0" indent="-18796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800" b="1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김현호</a:t>
                      </a:r>
                    </a:p>
                    <a:p>
                      <a:pPr marL="187960" marR="0" indent="-18796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400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(</a:t>
                      </a:r>
                      <a:r>
                        <a:rPr lang="ko-KR" altLang="en-US" sz="2400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통신</a:t>
                      </a:r>
                      <a:r>
                        <a:rPr lang="en-US" altLang="ko-KR" sz="2400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)</a:t>
                      </a:r>
                      <a:endParaRPr lang="ko-KR" altLang="en-US" sz="2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7780" marR="17780" marT="17780" marB="1778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7960" marR="0" indent="-18796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800" b="1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나은주</a:t>
                      </a:r>
                    </a:p>
                    <a:p>
                      <a:pPr marL="187960" marR="0" indent="-18796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400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(UI)</a:t>
                      </a:r>
                      <a:endParaRPr lang="ko-KR" altLang="en-US" sz="2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7780" marR="17780" marT="17780" marB="1778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7960" marR="0" indent="-18796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800" b="1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임종원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187960" marR="0" indent="-18796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400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(</a:t>
                      </a:r>
                      <a:r>
                        <a:rPr lang="en-US" sz="2400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AWS)</a:t>
                      </a:r>
                      <a:endParaRPr lang="en-US" sz="2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7780" marR="17780" marT="17780" marB="1778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800" b="1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한민서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400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(</a:t>
                      </a:r>
                      <a:r>
                        <a:rPr lang="en-US" sz="2400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CRUD)</a:t>
                      </a:r>
                      <a:endParaRPr lang="en-US" sz="2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7780" marR="17780" marT="17780" marB="1778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501300"/>
                  </a:ext>
                </a:extLst>
              </a:tr>
            </a:tbl>
          </a:graphicData>
        </a:graphic>
      </p:graphicFrame>
      <p:pic>
        <p:nvPicPr>
          <p:cNvPr id="1056" name="_x404783352">
            <a:extLst>
              <a:ext uri="{FF2B5EF4-FFF2-40B4-BE49-F238E27FC236}">
                <a16:creationId xmlns:a16="http://schemas.microsoft.com/office/drawing/2014/main" id="{EF8419D1-252A-0004-59E0-FED77AF246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237" y="24692190"/>
            <a:ext cx="1056371" cy="137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5" name="_x411594376">
            <a:extLst>
              <a:ext uri="{FF2B5EF4-FFF2-40B4-BE49-F238E27FC236}">
                <a16:creationId xmlns:a16="http://schemas.microsoft.com/office/drawing/2014/main" id="{91B4886D-1C97-8791-B626-15D487F77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651" y="24787943"/>
            <a:ext cx="1003530" cy="1300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_x411593728">
            <a:extLst>
              <a:ext uri="{FF2B5EF4-FFF2-40B4-BE49-F238E27FC236}">
                <a16:creationId xmlns:a16="http://schemas.microsoft.com/office/drawing/2014/main" id="{1E54BB79-573E-073B-56C3-0639E9F78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8732" y="24712711"/>
            <a:ext cx="1055907" cy="137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" name="그림 74">
            <a:extLst>
              <a:ext uri="{FF2B5EF4-FFF2-40B4-BE49-F238E27FC236}">
                <a16:creationId xmlns:a16="http://schemas.microsoft.com/office/drawing/2014/main" id="{D718F586-44F0-AB63-D051-B84C6B04413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73794" y="24651530"/>
            <a:ext cx="1092209" cy="1410770"/>
          </a:xfrm>
          <a:prstGeom prst="rect">
            <a:avLst/>
          </a:prstGeom>
        </p:spPr>
      </p:pic>
      <p:pic>
        <p:nvPicPr>
          <p:cNvPr id="1065" name="_x510377696">
            <a:extLst>
              <a:ext uri="{FF2B5EF4-FFF2-40B4-BE49-F238E27FC236}">
                <a16:creationId xmlns:a16="http://schemas.microsoft.com/office/drawing/2014/main" id="{0B51ACB2-776E-54A5-507E-9302E2AA8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7956" y="8200080"/>
            <a:ext cx="3336925" cy="2738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4D48F819-A72F-B090-EED1-55C4048A4F90}"/>
              </a:ext>
            </a:extLst>
          </p:cNvPr>
          <p:cNvSpPr txBox="1"/>
          <p:nvPr/>
        </p:nvSpPr>
        <p:spPr>
          <a:xfrm>
            <a:off x="10913444" y="6165214"/>
            <a:ext cx="9854585" cy="1163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0" indent="127000" algn="just" fontAlgn="base">
              <a:lnSpc>
                <a:spcPct val="160000"/>
              </a:lnSpc>
            </a:pPr>
            <a:r>
              <a:rPr lang="en-US" altLang="ko-KR" sz="2800" b="1" kern="0" spc="0" dirty="0"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2800" b="1" kern="0" spc="0" dirty="0"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환기청정기</a:t>
            </a:r>
            <a:r>
              <a:rPr lang="ko-KR" altLang="en-US" sz="28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 </a:t>
            </a:r>
            <a:r>
              <a:rPr lang="en-US" altLang="ko-KR" sz="2800" b="1" kern="0" spc="0" dirty="0"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(Arduino · Sensor · Raspberry Pi)</a:t>
            </a:r>
            <a:endParaRPr lang="en-US" altLang="ko-KR" sz="2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127000" marR="0" indent="12700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pic>
        <p:nvPicPr>
          <p:cNvPr id="1072" name="_x511551144">
            <a:extLst>
              <a:ext uri="{FF2B5EF4-FFF2-40B4-BE49-F238E27FC236}">
                <a16:creationId xmlns:a16="http://schemas.microsoft.com/office/drawing/2014/main" id="{92042A17-B28E-FE67-6F63-E314BCE7E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14803438"/>
            <a:ext cx="1041400" cy="960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1" name="_x511550496">
            <a:extLst>
              <a:ext uri="{FF2B5EF4-FFF2-40B4-BE49-F238E27FC236}">
                <a16:creationId xmlns:a16="http://schemas.microsoft.com/office/drawing/2014/main" id="{EB7B3252-6DC7-D140-9E02-6B6D99FCB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14803438"/>
            <a:ext cx="874712" cy="874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0" name="_x410498408">
            <a:extLst>
              <a:ext uri="{FF2B5EF4-FFF2-40B4-BE49-F238E27FC236}">
                <a16:creationId xmlns:a16="http://schemas.microsoft.com/office/drawing/2014/main" id="{27670133-1213-3EF2-7F2D-34C5342A8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14803438"/>
            <a:ext cx="981075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9" name="_x513996336">
            <a:extLst>
              <a:ext uri="{FF2B5EF4-FFF2-40B4-BE49-F238E27FC236}">
                <a16:creationId xmlns:a16="http://schemas.microsoft.com/office/drawing/2014/main" id="{509128B1-118C-4FA8-F4A1-C9FC071904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14803438"/>
            <a:ext cx="871537" cy="871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8" name="_x513996624">
            <a:extLst>
              <a:ext uri="{FF2B5EF4-FFF2-40B4-BE49-F238E27FC236}">
                <a16:creationId xmlns:a16="http://schemas.microsoft.com/office/drawing/2014/main" id="{A212B82F-E37A-13E5-EE96-42532172F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14803438"/>
            <a:ext cx="1062037" cy="8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_x513996192">
            <a:extLst>
              <a:ext uri="{FF2B5EF4-FFF2-40B4-BE49-F238E27FC236}">
                <a16:creationId xmlns:a16="http://schemas.microsoft.com/office/drawing/2014/main" id="{1DEEEA7C-9A9C-9471-8D8F-2296AB37B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14803438"/>
            <a:ext cx="1011237" cy="769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1" name="표 90">
            <a:extLst>
              <a:ext uri="{FF2B5EF4-FFF2-40B4-BE49-F238E27FC236}">
                <a16:creationId xmlns:a16="http://schemas.microsoft.com/office/drawing/2014/main" id="{627B3005-6696-1EE4-9E4E-B299EA005B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047257"/>
              </p:ext>
            </p:extLst>
          </p:nvPr>
        </p:nvGraphicFramePr>
        <p:xfrm>
          <a:off x="15473884" y="6803391"/>
          <a:ext cx="4939530" cy="48115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50170">
                  <a:extLst>
                    <a:ext uri="{9D8B030D-6E8A-4147-A177-3AD203B41FA5}">
                      <a16:colId xmlns:a16="http://schemas.microsoft.com/office/drawing/2014/main" val="2138776800"/>
                    </a:ext>
                  </a:extLst>
                </a:gridCol>
                <a:gridCol w="1639190">
                  <a:extLst>
                    <a:ext uri="{9D8B030D-6E8A-4147-A177-3AD203B41FA5}">
                      <a16:colId xmlns:a16="http://schemas.microsoft.com/office/drawing/2014/main" val="1458671278"/>
                    </a:ext>
                  </a:extLst>
                </a:gridCol>
                <a:gridCol w="1650170">
                  <a:extLst>
                    <a:ext uri="{9D8B030D-6E8A-4147-A177-3AD203B41FA5}">
                      <a16:colId xmlns:a16="http://schemas.microsoft.com/office/drawing/2014/main" val="1049988351"/>
                    </a:ext>
                  </a:extLst>
                </a:gridCol>
              </a:tblGrid>
              <a:tr h="101280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ysClr val="windowText" lastClr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780" marB="177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ysClr val="windowText" lastClr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ysClr val="windowText" lastClr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4476209"/>
                  </a:ext>
                </a:extLst>
              </a:tr>
              <a:tr h="117465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>
                          <a:solidFill>
                            <a:sysClr val="windowText" lastClr="000000"/>
                          </a:solidFill>
                          <a:effectLst/>
                        </a:rPr>
                        <a:t>미세먼지 센서</a:t>
                      </a:r>
                      <a:endParaRPr lang="ko-KR" altLang="en-US" sz="1000" kern="0" spc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kern="0" spc="0">
                          <a:solidFill>
                            <a:sysClr val="windowText" lastClr="000000"/>
                          </a:solidFill>
                          <a:effectLst/>
                        </a:rPr>
                        <a:t>(PMS7003)</a:t>
                      </a:r>
                      <a:endParaRPr lang="ko-KR" altLang="en-US" sz="1000" kern="0" spc="0">
                        <a:solidFill>
                          <a:sysClr val="windowText" lastClr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780" marB="177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온습도</a:t>
                      </a:r>
                      <a:r>
                        <a:rPr lang="ko-KR" altLang="en-US" sz="2000" kern="0" spc="0" dirty="0">
                          <a:solidFill>
                            <a:sysClr val="windowText" lastClr="000000"/>
                          </a:solidFill>
                          <a:effectLst/>
                        </a:rPr>
                        <a:t> 센서</a:t>
                      </a:r>
                      <a:endParaRPr lang="ko-KR" altLang="en-US" sz="1000" kern="0" spc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kern="0" spc="0" dirty="0">
                          <a:solidFill>
                            <a:sysClr val="windowText" lastClr="000000"/>
                          </a:solidFill>
                          <a:effectLst/>
                        </a:rPr>
                        <a:t>(</a:t>
                      </a:r>
                      <a:r>
                        <a:rPr lang="en-US" sz="2000" kern="0" spc="0" dirty="0">
                          <a:solidFill>
                            <a:sysClr val="windowText" lastClr="000000"/>
                          </a:solidFill>
                          <a:effectLst/>
                        </a:rPr>
                        <a:t>DHT31-D)</a:t>
                      </a:r>
                      <a:endParaRPr lang="en-US" sz="1000" kern="0" spc="0" dirty="0">
                        <a:solidFill>
                          <a:sysClr val="windowText" lastClr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 dirty="0">
                          <a:solidFill>
                            <a:sysClr val="windowText" lastClr="000000"/>
                          </a:solidFill>
                          <a:effectLst/>
                        </a:rPr>
                        <a:t>전류 센서</a:t>
                      </a:r>
                      <a:endParaRPr lang="ko-KR" altLang="en-US" sz="1000" kern="0" spc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kern="0" spc="0" dirty="0">
                          <a:solidFill>
                            <a:sysClr val="windowText" lastClr="000000"/>
                          </a:solidFill>
                          <a:effectLst/>
                        </a:rPr>
                        <a:t>(</a:t>
                      </a:r>
                      <a:r>
                        <a:rPr lang="en-US" sz="2000" kern="0" spc="0" dirty="0">
                          <a:solidFill>
                            <a:sysClr val="windowText" lastClr="000000"/>
                          </a:solidFill>
                          <a:effectLst/>
                        </a:rPr>
                        <a:t>ACS712)</a:t>
                      </a:r>
                      <a:endParaRPr lang="en-US" sz="1000" kern="0" spc="0" dirty="0">
                        <a:solidFill>
                          <a:sysClr val="windowText" lastClr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557102"/>
                  </a:ext>
                </a:extLst>
              </a:tr>
              <a:tr h="936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ysClr val="windowText" lastClr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780" marB="177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ysClr val="windowText" lastClr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ysClr val="windowText" lastClr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045273"/>
                  </a:ext>
                </a:extLst>
              </a:tr>
              <a:tr h="168174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>
                          <a:solidFill>
                            <a:sysClr val="windowText" lastClr="000000"/>
                          </a:solidFill>
                          <a:effectLst/>
                        </a:rPr>
                        <a:t>제어 모터</a:t>
                      </a:r>
                      <a:endParaRPr lang="ko-KR" altLang="en-US" sz="1000" kern="0" spc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kern="0" spc="0">
                          <a:solidFill>
                            <a:sysClr val="windowText" lastClr="000000"/>
                          </a:solidFill>
                          <a:effectLst/>
                        </a:rPr>
                        <a:t>(DC 5V Fan)</a:t>
                      </a:r>
                      <a:endParaRPr lang="ko-KR" altLang="en-US" sz="1000" kern="0" spc="0">
                        <a:solidFill>
                          <a:sysClr val="windowText" lastClr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780" marB="177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 dirty="0">
                          <a:solidFill>
                            <a:sysClr val="windowText" lastClr="000000"/>
                          </a:solidFill>
                          <a:effectLst/>
                        </a:rPr>
                        <a:t>컨트롤러</a:t>
                      </a:r>
                      <a:endParaRPr lang="ko-KR" altLang="en-US" sz="1000" kern="0" spc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kern="0" spc="0" dirty="0">
                          <a:solidFill>
                            <a:sysClr val="windowText" lastClr="000000"/>
                          </a:solidFill>
                          <a:effectLst/>
                        </a:rPr>
                        <a:t>(</a:t>
                      </a:r>
                      <a:r>
                        <a:rPr lang="en-US" sz="2000" kern="0" spc="0" dirty="0">
                          <a:solidFill>
                            <a:sysClr val="windowText" lastClr="000000"/>
                          </a:solidFill>
                          <a:effectLst/>
                        </a:rPr>
                        <a:t>Arduino)</a:t>
                      </a:r>
                      <a:endParaRPr lang="en-US" sz="1000" kern="0" spc="0" dirty="0">
                        <a:solidFill>
                          <a:sysClr val="windowText" lastClr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 dirty="0">
                          <a:solidFill>
                            <a:sysClr val="windowText" lastClr="000000"/>
                          </a:solidFill>
                          <a:effectLst/>
                        </a:rPr>
                        <a:t>중계장치</a:t>
                      </a:r>
                      <a:endParaRPr lang="ko-KR" altLang="en-US" sz="1000" kern="0" spc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kern="0" spc="0" dirty="0">
                          <a:solidFill>
                            <a:sysClr val="windowText" lastClr="000000"/>
                          </a:solidFill>
                          <a:effectLst/>
                        </a:rPr>
                        <a:t>(</a:t>
                      </a:r>
                      <a:r>
                        <a:rPr lang="en-US" sz="2000" kern="0" spc="0" dirty="0">
                          <a:solidFill>
                            <a:sysClr val="windowText" lastClr="000000"/>
                          </a:solidFill>
                          <a:effectLst/>
                        </a:rPr>
                        <a:t>Raspberry Pi)</a:t>
                      </a:r>
                      <a:endParaRPr lang="en-US" sz="1000" kern="0" spc="0" dirty="0">
                        <a:solidFill>
                          <a:sysClr val="windowText" lastClr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4127482"/>
                  </a:ext>
                </a:extLst>
              </a:tr>
            </a:tbl>
          </a:graphicData>
        </a:graphic>
      </p:graphicFrame>
      <p:pic>
        <p:nvPicPr>
          <p:cNvPr id="1087" name="_x510384800">
            <a:extLst>
              <a:ext uri="{FF2B5EF4-FFF2-40B4-BE49-F238E27FC236}">
                <a16:creationId xmlns:a16="http://schemas.microsoft.com/office/drawing/2014/main" id="{2A3E859D-A28F-6E61-ADE1-845DC9DE4A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7043" y="6812955"/>
            <a:ext cx="1041400" cy="960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_x510383792">
            <a:extLst>
              <a:ext uri="{FF2B5EF4-FFF2-40B4-BE49-F238E27FC236}">
                <a16:creationId xmlns:a16="http://schemas.microsoft.com/office/drawing/2014/main" id="{48A9D813-043A-9150-8951-7D78953D1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06293" y="6867218"/>
            <a:ext cx="874712" cy="874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_x510384512">
            <a:extLst>
              <a:ext uri="{FF2B5EF4-FFF2-40B4-BE49-F238E27FC236}">
                <a16:creationId xmlns:a16="http://schemas.microsoft.com/office/drawing/2014/main" id="{A19510AE-143C-94BB-F037-F98414CE1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7621" y="6931478"/>
            <a:ext cx="981075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4" name="_x20329296">
            <a:extLst>
              <a:ext uri="{FF2B5EF4-FFF2-40B4-BE49-F238E27FC236}">
                <a16:creationId xmlns:a16="http://schemas.microsoft.com/office/drawing/2014/main" id="{BDDD6A19-6E7E-C0EE-C09B-89E333CD1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2124" y="8967631"/>
            <a:ext cx="871537" cy="871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_x410101200">
            <a:extLst>
              <a:ext uri="{FF2B5EF4-FFF2-40B4-BE49-F238E27FC236}">
                <a16:creationId xmlns:a16="http://schemas.microsoft.com/office/drawing/2014/main" id="{C719B904-FD97-C834-07C8-14C2FF781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8968" y="9036832"/>
            <a:ext cx="1062037" cy="8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_x410100984">
            <a:extLst>
              <a:ext uri="{FF2B5EF4-FFF2-40B4-BE49-F238E27FC236}">
                <a16:creationId xmlns:a16="http://schemas.microsoft.com/office/drawing/2014/main" id="{119E831D-AD8A-CC6A-332F-2D05239A09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5448" y="9046617"/>
            <a:ext cx="1011237" cy="769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3" name="표 92">
            <a:extLst>
              <a:ext uri="{FF2B5EF4-FFF2-40B4-BE49-F238E27FC236}">
                <a16:creationId xmlns:a16="http://schemas.microsoft.com/office/drawing/2014/main" id="{4EBF1191-4813-B2A3-BE1F-5803889E33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604452"/>
              </p:ext>
            </p:extLst>
          </p:nvPr>
        </p:nvGraphicFramePr>
        <p:xfrm>
          <a:off x="10878621" y="15674975"/>
          <a:ext cx="9824261" cy="6501439"/>
        </p:xfrm>
        <a:graphic>
          <a:graphicData uri="http://schemas.openxmlformats.org/drawingml/2006/table">
            <a:tbl>
              <a:tblPr/>
              <a:tblGrid>
                <a:gridCol w="4912850">
                  <a:extLst>
                    <a:ext uri="{9D8B030D-6E8A-4147-A177-3AD203B41FA5}">
                      <a16:colId xmlns:a16="http://schemas.microsoft.com/office/drawing/2014/main" val="1868457933"/>
                    </a:ext>
                  </a:extLst>
                </a:gridCol>
                <a:gridCol w="4911411">
                  <a:extLst>
                    <a:ext uri="{9D8B030D-6E8A-4147-A177-3AD203B41FA5}">
                      <a16:colId xmlns:a16="http://schemas.microsoft.com/office/drawing/2014/main" val="338937287"/>
                    </a:ext>
                  </a:extLst>
                </a:gridCol>
              </a:tblGrid>
              <a:tr h="173060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5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5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967067"/>
                  </a:ext>
                </a:extLst>
              </a:tr>
              <a:tr h="4770830">
                <a:tc gridSpan="2">
                  <a:txBody>
                    <a:bodyPr/>
                    <a:lstStyle/>
                    <a:p>
                      <a:pPr marL="342900" marR="0" lvl="0" indent="-3429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2500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실시간 모니터링</a:t>
                      </a:r>
                      <a:r>
                        <a:rPr lang="en-US" altLang="ko-KR" sz="2500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: Spring Boot </a:t>
                      </a:r>
                      <a:r>
                        <a:rPr lang="ko-KR" altLang="en-US" sz="2500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서버가 센서 데이터를 실시간으로 수신하며</a:t>
                      </a:r>
                      <a:r>
                        <a:rPr lang="en-US" altLang="ko-KR" sz="2500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, Web UI</a:t>
                      </a:r>
                      <a:r>
                        <a:rPr lang="ko-KR" altLang="en-US" sz="2500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에서 온도</a:t>
                      </a:r>
                      <a:r>
                        <a:rPr lang="en-US" altLang="ko-KR" sz="2500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·</a:t>
                      </a:r>
                      <a:r>
                        <a:rPr lang="ko-KR" altLang="en-US" sz="2500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습도</a:t>
                      </a:r>
                      <a:r>
                        <a:rPr lang="en-US" altLang="ko-KR" sz="2500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·</a:t>
                      </a:r>
                      <a:r>
                        <a:rPr lang="ko-KR" altLang="en-US" sz="2500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미세먼지 수치를 즉시 확인한다</a:t>
                      </a:r>
                      <a:r>
                        <a:rPr lang="en-US" altLang="ko-KR" sz="2500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.</a:t>
                      </a:r>
                      <a:endParaRPr lang="ko-KR" altLang="en-US" sz="25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342900" marR="0" lvl="0" indent="-3429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2500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원격 기기 제어</a:t>
                      </a:r>
                      <a:r>
                        <a:rPr lang="en-US" altLang="ko-KR" sz="2500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: </a:t>
                      </a:r>
                      <a:r>
                        <a:rPr lang="ko-KR" altLang="en-US" sz="2500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사용자는 </a:t>
                      </a:r>
                      <a:r>
                        <a:rPr lang="en-US" altLang="ko-KR" sz="2500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Web UI</a:t>
                      </a:r>
                      <a:r>
                        <a:rPr lang="ko-KR" altLang="en-US" sz="2500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를 통해 환기 장치의 전원</a:t>
                      </a:r>
                      <a:r>
                        <a:rPr lang="en-US" altLang="ko-KR" sz="2500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·</a:t>
                      </a:r>
                      <a:r>
                        <a:rPr lang="ko-KR" altLang="en-US" sz="2500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속도</a:t>
                      </a:r>
                      <a:r>
                        <a:rPr lang="en-US" altLang="ko-KR" sz="2500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·</a:t>
                      </a:r>
                      <a:r>
                        <a:rPr lang="ko-KR" altLang="en-US" sz="2500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모드를 원격으로 제어한다</a:t>
                      </a:r>
                      <a:r>
                        <a:rPr lang="en-US" altLang="ko-KR" sz="2500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.</a:t>
                      </a:r>
                      <a:endParaRPr lang="ko-KR" altLang="en-US" sz="25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342900" marR="0" lvl="0" indent="-3429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2500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데이터 시각화</a:t>
                      </a:r>
                      <a:r>
                        <a:rPr lang="en-US" altLang="ko-KR" sz="2500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: </a:t>
                      </a:r>
                      <a:r>
                        <a:rPr lang="ko-KR" altLang="en-US" sz="2500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하루 동안 수집된 센서 데이터를 환경데이터로 계산해 그래프로 표현해 시간대별 변화를 한눈에 파악한다</a:t>
                      </a:r>
                      <a:r>
                        <a:rPr lang="en-US" altLang="ko-KR" sz="2500" kern="0" spc="0" dirty="0"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.</a:t>
                      </a:r>
                      <a:endParaRPr lang="ko-KR" altLang="en-US" sz="25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717546"/>
                  </a:ext>
                </a:extLst>
              </a:tr>
            </a:tbl>
          </a:graphicData>
        </a:graphic>
      </p:graphicFrame>
      <p:pic>
        <p:nvPicPr>
          <p:cNvPr id="1090" name="_x512636768">
            <a:extLst>
              <a:ext uri="{FF2B5EF4-FFF2-40B4-BE49-F238E27FC236}">
                <a16:creationId xmlns:a16="http://schemas.microsoft.com/office/drawing/2014/main" id="{59010747-BE92-4DF2-A0D7-F597B3BC6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17464" y="15990454"/>
            <a:ext cx="3914775" cy="2262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9" name="_x512636840">
            <a:extLst>
              <a:ext uri="{FF2B5EF4-FFF2-40B4-BE49-F238E27FC236}">
                <a16:creationId xmlns:a16="http://schemas.microsoft.com/office/drawing/2014/main" id="{622385E3-543E-16EA-D00D-8C8D3BD86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7043" y="15846904"/>
            <a:ext cx="4290206" cy="2480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137831F2-C44B-EB09-0F8E-306A6840C546}"/>
              </a:ext>
            </a:extLst>
          </p:cNvPr>
          <p:cNvSpPr txBox="1"/>
          <p:nvPr/>
        </p:nvSpPr>
        <p:spPr>
          <a:xfrm>
            <a:off x="10857675" y="14934060"/>
            <a:ext cx="985458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ko-KR" altLang="en-US" sz="3000" b="1" kern="0" spc="0" dirty="0"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실시간 데이터 모니터링 및 제어 시스템 </a:t>
            </a:r>
            <a:r>
              <a:rPr lang="en-US" altLang="ko-KR" sz="3000" b="1" kern="0" spc="0" dirty="0"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(</a:t>
            </a:r>
            <a:r>
              <a:rPr lang="en-US" altLang="ko-KR" sz="3000" b="1" kern="0" spc="0" dirty="0" err="1"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SpringBoot</a:t>
            </a:r>
            <a:r>
              <a:rPr lang="en-US" altLang="ko-KR" sz="3000" b="1" kern="0" spc="0" dirty="0"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· MySQL · React Web UI)</a:t>
            </a:r>
            <a:endParaRPr lang="ko-KR" altLang="en-US" sz="30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endParaRPr lang="ko-KR" altLang="en-US" sz="2800" dirty="0"/>
          </a:p>
        </p:txBody>
      </p:sp>
      <p:pic>
        <p:nvPicPr>
          <p:cNvPr id="107" name="그림 106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B0408B4-491F-9247-F04C-3D9C2E2DECF5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2174" y="22372835"/>
            <a:ext cx="4562296" cy="2862040"/>
          </a:xfrm>
          <a:prstGeom prst="rect">
            <a:avLst/>
          </a:prstGeom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id="{42BAB48C-0A6F-465F-7D0C-33672C95E279}"/>
              </a:ext>
            </a:extLst>
          </p:cNvPr>
          <p:cNvSpPr txBox="1"/>
          <p:nvPr/>
        </p:nvSpPr>
        <p:spPr>
          <a:xfrm>
            <a:off x="11274998" y="21653850"/>
            <a:ext cx="90742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kern="0" spc="0" dirty="0"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- MQTT</a:t>
            </a:r>
            <a:r>
              <a:rPr lang="ko-KR" altLang="en-US" sz="2800" b="1" kern="0" spc="0" dirty="0"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와 </a:t>
            </a:r>
            <a:r>
              <a:rPr lang="en-US" altLang="ko-KR" sz="2800" b="1" kern="0" spc="0" dirty="0" err="1"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HiveMQ</a:t>
            </a:r>
            <a:r>
              <a:rPr lang="en-US" altLang="ko-KR" sz="2800" b="1" kern="0" spc="0" dirty="0"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ko-KR" altLang="en-US" sz="2800" b="1" kern="0" spc="0" dirty="0"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기반의 실시간 환경 데이터 통신</a:t>
            </a:r>
            <a:endParaRPr lang="ko-KR" altLang="en-US" sz="2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endParaRPr lang="ko-KR" altLang="en-US" sz="2800" dirty="0"/>
          </a:p>
        </p:txBody>
      </p:sp>
      <p:pic>
        <p:nvPicPr>
          <p:cNvPr id="113" name="Picture 8">
            <a:extLst>
              <a:ext uri="{FF2B5EF4-FFF2-40B4-BE49-F238E27FC236}">
                <a16:creationId xmlns:a16="http://schemas.microsoft.com/office/drawing/2014/main" id="{3262DDB9-9067-19DE-64F1-6A3FBFE7508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867764" y="22480796"/>
            <a:ext cx="2737040" cy="2737394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631582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</TotalTime>
  <Words>498</Words>
  <Application>Microsoft Office PowerPoint</Application>
  <PresentationFormat>사용자 지정</PresentationFormat>
  <Paragraphs>63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굴림체</vt:lpstr>
      <vt:lpstr>맑은 고딕</vt:lpstr>
      <vt:lpstr>함초롬돋움</vt:lpstr>
      <vt:lpstr>함초롬바탕</vt:lpstr>
      <vt:lpstr>Arial</vt:lpstr>
      <vt:lpstr>Wingdings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218</cp:lastModifiedBy>
  <cp:revision>97</cp:revision>
  <dcterms:created xsi:type="dcterms:W3CDTF">2018-10-17T01:18:09Z</dcterms:created>
  <dcterms:modified xsi:type="dcterms:W3CDTF">2025-10-29T07:36:18Z</dcterms:modified>
</cp:coreProperties>
</file>